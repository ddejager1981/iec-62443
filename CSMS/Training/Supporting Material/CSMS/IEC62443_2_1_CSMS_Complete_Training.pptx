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30"/>
    <p:restoredTop sz="94610"/>
  </p:normalViewPr>
  <p:slideViewPr>
    <p:cSldViewPr snapToGrid="0" snapToObjects="1">
      <p:cViewPr varScale="1">
        <p:scale>
          <a:sx n="207" d="100"/>
          <a:sy n="207" d="100"/>
        </p:scale>
        <p:origin x="7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24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62443-2-1:2010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92608" y="768096"/>
            <a:ext cx="2651760" cy="18288"/>
          </a:xfrm>
          <a:prstGeom prst="rect">
            <a:avLst/>
          </a:prstGeom>
          <a:solidFill>
            <a:srgbClr val="00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877824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Establishing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Cyber Security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for IACS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92608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Mastery Training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 – 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1005840"/>
            <a:ext cx="5120640" cy="475488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0" y="1005840"/>
            <a:ext cx="91440" cy="47548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0" y="10789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  Foundations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1691640"/>
            <a:ext cx="5120640" cy="475488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1691640"/>
            <a:ext cx="91440" cy="475488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17647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 Risk Analysis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0" y="2377440"/>
            <a:ext cx="5120640" cy="475488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0" y="2377440"/>
            <a:ext cx="91440" cy="47548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0" y="24505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3  Policy &amp; Countermeasures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0" y="3063240"/>
            <a:ext cx="5120640" cy="475488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0" y="3063240"/>
            <a:ext cx="91440" cy="475488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0" y="31363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4  Implementation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3749040"/>
            <a:ext cx="5120640" cy="475488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0" y="3749040"/>
            <a:ext cx="91440" cy="475488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0" y="38221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5  Monitoring &amp; Mastery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Standards-Based · Autonomous CSMS Ready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ROADMAP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5943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training is structured — 5 stages, ~52 weeks, one complete CSMS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30768" cy="694944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73152" cy="69494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106070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78992" y="10607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78992" y="13533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IACS vs IT · What is a CSMS · The 3-Category Framework · Shall vs Should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0" y="1188720"/>
            <a:ext cx="2011680" cy="25603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188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Weeks 1–4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1773936"/>
            <a:ext cx="8430768" cy="694944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" y="1773936"/>
            <a:ext cx="73152" cy="694944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" y="184708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78992" y="18470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ANALYSIS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78992" y="21396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Rationale · High-Level &amp; Detailed Risk Assessment · Risk Registers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0" y="1975104"/>
            <a:ext cx="2011680" cy="256032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Weeks 5–10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560320"/>
            <a:ext cx="8430768" cy="694944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7472" y="2560320"/>
            <a:ext cx="73152" cy="69494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" y="263347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78992" y="26334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POLICY, ORG &amp; COUNTERMEASURES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78992" y="2926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· Governance · Training · Network Segmentation · Access Control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83680" y="2761488"/>
            <a:ext cx="2011680" cy="2560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0" y="2761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Weeks 11–20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3346704"/>
            <a:ext cx="8430768" cy="694944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47472" y="3346704"/>
            <a:ext cx="73152" cy="694944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2064" y="341985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078992" y="341985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78992" y="37124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Mgmt · Patch &amp; AV · Info Classification · Incident Response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83680" y="3547872"/>
            <a:ext cx="2011680" cy="256032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8368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Weeks 21–32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4133088"/>
            <a:ext cx="8430768" cy="694944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47472" y="4133088"/>
            <a:ext cx="73152" cy="694944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2064" y="42062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C9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078992" y="42062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&amp; MASTERY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78992" y="44988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Audits · KPIs · Continuous Improvement · Autonomous Operation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83680" y="4334256"/>
            <a:ext cx="2011680" cy="256032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83680" y="4334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Weeks 33–52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73152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00A896">
                    <a:alpha val="3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320040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783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0" y="2834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IACS vs IT Security  ·  What is a CSMS  ·  The 3-Category Framework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 vs Should  ·  Key Terminology  ·  Standard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IEC 62443-2-1 §0  ·  §1  ·  §2  ·  §3  ·  §4.1  ·  Annex B §B.1–B.3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1 · FOUNDATIONS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IACS vs IT Security — Why They Are Fundamentally Different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hacking technique can cause a production loss in IT but a fatality in OT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600200"/>
            <a:ext cx="4160520" cy="3218688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600200"/>
            <a:ext cx="4160520" cy="384048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1627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(Corporate Network)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2064" y="2167128"/>
            <a:ext cx="128016" cy="128016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10312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goal: Confidentiality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" y="2606040"/>
            <a:ext cx="128016" cy="128016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254203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Patching: monthly cycles acceptable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3044952"/>
            <a:ext cx="128016" cy="128016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29809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Downtime: minutes — tolerable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" y="3483864"/>
            <a:ext cx="128016" cy="128016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341985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strict lockouts 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" y="3922776"/>
            <a:ext cx="128016" cy="128016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38587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3–5 years typical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" y="4361688"/>
            <a:ext cx="128016" cy="128016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42976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independence: common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600200"/>
            <a:ext cx="4160520" cy="3218688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1600200"/>
            <a:ext cx="4160520" cy="38404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1627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IACS / OT (Control System)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919472" y="2167128"/>
            <a:ext cx="128016" cy="128016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20640" y="210312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goals: Safety &amp; Availability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19472" y="2606040"/>
            <a:ext cx="128016" cy="128016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20640" y="254203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Patching: vendor-approved, often yearly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19472" y="3044952"/>
            <a:ext cx="128016" cy="128016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20640" y="29809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Downtime: unacceptable (safety risk)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19472" y="3483864"/>
            <a:ext cx="128016" cy="128016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20640" y="341985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Lockout: can cause HSE incident!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19472" y="3922776"/>
            <a:ext cx="128016" cy="128016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20640" y="38587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20–30+ years (PLCs from 1995)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19472" y="4361688"/>
            <a:ext cx="128016" cy="128016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20640" y="42976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lock-in: firmware dependent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" y="4709160"/>
            <a:ext cx="8430768" cy="274320"/>
          </a:xfrm>
          <a:prstGeom prst="rect">
            <a:avLst/>
          </a:prstGeom>
          <a:solidFill>
            <a:srgbClr val="00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4718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INSIGHT:  Account lockout after failed logins — safe in IT, potentially lethal in OT. Your CSMS must never create HSE risk while reducing cyber risk.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1 · FOUNDATIONS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CSMS? — The Engine Behind IACS Security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62443-2-1 §0 Introduction &amp; §4.1 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8430768" cy="749808"/>
          </a:xfrm>
          <a:prstGeom prst="rect">
            <a:avLst/>
          </a:prstGeom>
          <a:solidFill>
            <a:srgbClr val="007A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 Security Management System (CSMS) is a systematic, documented set of policies, procedures, practices, and personnel controls that protect an IACS against cyber threats — throughout its entire lifecycle.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2487168"/>
            <a:ext cx="4069080" cy="107899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2578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NOT a product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87121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CSMS is a management system — not a firewall, not a SIEM. Technology implements it; people and processes define it.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2487168"/>
            <a:ext cx="4069080" cy="107899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2578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Lifecycle-based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287121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CSMS follows the IACS from design through commissioning, operation, and decommissioning. Risk changes; the CSMS must change too.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3694176"/>
            <a:ext cx="4069080" cy="107899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" y="3785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Risk-driven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" y="407822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of the CSMS traces back to an identified risk. If there is no risk, there is no requirement. Risk analysis drives all decisions.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3694176"/>
            <a:ext cx="4069080" cy="107899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3785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People-centred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407822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is explicit: most elements are 'policy, procedure, practice and personnel related.' Technology without people equals zero security.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1 · FOUNDATIONS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3-Category CSMS Architecture — Know This Like Your ABCs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62443-2-1 §4.1 · Figure 1 · Every requirement maps to one of these three categories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2706624" cy="3310128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572768"/>
            <a:ext cx="2706624" cy="5303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591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93392" y="1591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Analysis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30352" y="2478024"/>
            <a:ext cx="109728" cy="109728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35915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Rationale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3209544"/>
            <a:ext cx="109728" cy="109728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0906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3941064"/>
            <a:ext cx="109728" cy="109728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8221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" y="4672584"/>
            <a:ext cx="109728" cy="109728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5537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08960" y="3127248"/>
            <a:ext cx="128016" cy="18288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72384" y="30175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7D8B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55264" y="1572768"/>
            <a:ext cx="2706624" cy="3310128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55264" y="1572768"/>
            <a:ext cx="2706624" cy="5303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46704" y="1591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01184" y="1591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64992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Addressing Risk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the CSMS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438144" y="2478024"/>
            <a:ext cx="109728" cy="109728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39312" y="235915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Policy, Org &amp; Awareness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38144" y="3209544"/>
            <a:ext cx="109728" cy="109728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39312" y="30906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Security Countermeasures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38144" y="3941064"/>
            <a:ext cx="109728" cy="109728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39312" y="38221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16752" y="3127248"/>
            <a:ext cx="128016" cy="18288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80176" y="30175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7D8B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63056" y="1572768"/>
            <a:ext cx="2706624" cy="3310128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63056" y="1572768"/>
            <a:ext cx="2706624" cy="530352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54496" y="1591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08976" y="1591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72784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&amp;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Improving the CSMS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345936" y="2478024"/>
            <a:ext cx="109728" cy="109728"/>
          </a:xfrm>
          <a:prstGeom prst="lin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47104" y="235915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45936" y="3209544"/>
            <a:ext cx="109728" cy="109728"/>
          </a:xfrm>
          <a:prstGeom prst="lin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47104" y="30906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Improve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45936" y="3941064"/>
            <a:ext cx="109728" cy="109728"/>
          </a:xfrm>
          <a:prstGeom prst="lin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47104" y="38221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Maintain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7472" y="4800600"/>
            <a:ext cx="8430768" cy="21945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4809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B (informative) describes HOW to build the CSMS step-by-step. Clause 4 describes WHAT must be in it. Both are essential reading.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1 · FOUNDATIONS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SHALL vs SHOULD — The Most Important Reading Skill in This Standard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62443-2-1 §3.3 Conventions · This distinction determines your compliance baseline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4069080" cy="3200400"/>
          </a:xfrm>
          <a:prstGeom prst="rect">
            <a:avLst/>
          </a:prstGeom>
          <a:solidFill>
            <a:srgbClr val="1A0A0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572768"/>
            <a:ext cx="4069080" cy="45720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 SHALL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157984"/>
            <a:ext cx="37490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requirement.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 = gap against the standard.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4.2.3.1 — </a:t>
            </a:r>
            <a:r>
              <a:rPr lang="en-US" sz="10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organisation SHALL select a particular risk assessment methodology.'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select and document a methodology. There is no option to skip this.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27448" y="1572768"/>
            <a:ext cx="4069080" cy="3200400"/>
          </a:xfrm>
          <a:prstGeom prst="rect">
            <a:avLst/>
          </a:prstGeom>
          <a:solidFill>
            <a:srgbClr val="081A1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27448" y="1572768"/>
            <a:ext cx="4069080" cy="457200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1600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🟢  SHOULD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64608" y="2157984"/>
            <a:ext cx="37490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recommended — best practice.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must be justified.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4.2.3.2 — </a:t>
            </a:r>
            <a:r>
              <a:rPr lang="en-US" sz="10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organisation SHOULD provide participants in the risk assessment with training.'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skip training, you need a documented reason (e.g., all participants are already certified assessors).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4736592"/>
            <a:ext cx="8430768" cy="274320"/>
          </a:xfrm>
          <a:prstGeom prst="rect">
            <a:avLst/>
          </a:prstGeom>
          <a:solidFill>
            <a:srgbClr val="00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7457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Tutor Tip:  Count the SHALLs in each requirement table. Those are your audit checkpoints. SHOULD items are your maturity improvement backlog.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1 · FOUNDATIONS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Annex B: Your Master Project Plan — The 6-Step CSMS Development Process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62443-2-1 Annex B (informative) · Figure B.1 · Honour the sequence — deviating causes predictable failures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36192"/>
            <a:ext cx="1353312" cy="310896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536192"/>
            <a:ext cx="1353312" cy="91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5910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20624" y="2103120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Initiate CSMS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0624" y="2816352"/>
            <a:ext cx="1207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rationale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obtain management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+ scope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64208" y="2907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07D8B"/>
                </a:solidFill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828800" y="1536192"/>
            <a:ext cx="1353312" cy="310896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28800" y="1536192"/>
            <a:ext cx="1353312" cy="9144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74520" y="15910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901952" y="2103120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Risk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01952" y="2816352"/>
            <a:ext cx="1207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threats,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vulnerabilities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consequences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45536" y="2907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07D8B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310128" y="1536192"/>
            <a:ext cx="1353312" cy="310896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10128" y="1536192"/>
            <a:ext cx="1353312" cy="914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55848" y="15910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383280" y="2103120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Establish Policy,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 &amp; Awareness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2816352"/>
            <a:ext cx="1207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structure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programme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suite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26864" y="2907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07D8B"/>
                </a:solidFill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791456" y="1536192"/>
            <a:ext cx="1353312" cy="310896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91456" y="1536192"/>
            <a:ext cx="1353312" cy="91440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37176" y="15910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864608" y="2103120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Detailed Risk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64608" y="2816352"/>
            <a:ext cx="1207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vulnerability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per system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risk register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08192" y="2907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07D8B"/>
                </a:solidFill>
              </a:rPr>
              <a:t>›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72784" y="1536192"/>
            <a:ext cx="1353312" cy="310896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72784" y="1536192"/>
            <a:ext cx="1353312" cy="9144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18504" y="15910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C9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345936" y="2103120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&amp; Implement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Countermeasures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45936" y="2816352"/>
            <a:ext cx="1207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segmentation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patch/AV/backup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589520" y="2907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07D8B"/>
                </a:solidFill>
              </a:rPr>
              <a:t>›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754112" y="1536192"/>
            <a:ext cx="1353312" cy="310896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754112" y="1536192"/>
            <a:ext cx="1353312" cy="91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99832" y="15910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827264" y="2103120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Maintain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CSMS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827264" y="2816352"/>
            <a:ext cx="1207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Audits, KPIs,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7472" y="4709160"/>
            <a:ext cx="8430768" cy="320040"/>
          </a:xfrm>
          <a:prstGeom prst="rect">
            <a:avLst/>
          </a:prstGeom>
          <a:solidFill>
            <a:srgbClr val="1A0D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47472" y="4709160"/>
            <a:ext cx="54864" cy="3200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5488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Pitfall (Annex B warning):  Jumping to detailed vulnerability assessment (Step 4) before establishing the high-level risk context (Step 2) produces technical findings that management ignores — because there is no narrative to make them meaningful.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1 · FOUNDATIONS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Terminology — Own This Vocabulary Before Reading Any Requirement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62443-2-1 §3.1 Terms and Definitions · These words have precise meanings in this standard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2724912" cy="144475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572768"/>
            <a:ext cx="2724912" cy="5486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66420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938528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physical or logical object of perceived value. Includes hardware, software, data, and information.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250545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PLC, HMI application, P&amp;ID drawing, network diagram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18688" y="1572768"/>
            <a:ext cx="2724912" cy="144475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572768"/>
            <a:ext cx="2724912" cy="54864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166420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938528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that a threat exploits a vulnerability × the consequence of that event occurring.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250545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P = Moderate, C = Catastrophic → High Risk requiring immediate countermeasure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9904" y="1572768"/>
            <a:ext cx="2724912" cy="144475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1572768"/>
            <a:ext cx="2724912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81344" y="166420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Zone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81344" y="1938528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or physical grouping of IACS assets sharing common security requirements and a target security level.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81344" y="250545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Control Network Zone, DMZ, Corporate Zone — each with its own SL-T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3145536"/>
            <a:ext cx="2724912" cy="144475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" y="3145536"/>
            <a:ext cx="2724912" cy="54864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8912" y="32369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Security Level (SL-T)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3511296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desired security level for a zone, determined by risk assessment. Drives all countermeasure selection.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" y="407822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SL-T 2 for a water treatment plant control zone — 'protection against intentional violation'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18688" y="3145536"/>
            <a:ext cx="2724912" cy="144475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18688" y="3145536"/>
            <a:ext cx="2724912" cy="54864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10128" y="32369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C9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Conformance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10128" y="3511296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of adhering to stated CSMS policies and executing procedures at the correct time.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10128" y="407822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If your policy says 'patch within 30 days', but patches are applied at 90 days — non-conformance.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89904" y="3145536"/>
            <a:ext cx="2724912" cy="144475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89904" y="3145536"/>
            <a:ext cx="2724912" cy="5486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81344" y="32369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81344" y="3511296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Safety and Environment — always evaluated alongside cyber security decisions in IACS contexts.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81344" y="407822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A patch causing a PLC reboot during production = unacceptable HSE risk → defer, test in staging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2196F3">
                    <a:alpha val="3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320040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783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Analysis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0" y="2834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Rationale  ·  High-Level Risk Assessment  ·  Detailed Vulnerability Assessment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Registers  ·  Reassessment Triggers  ·  Practical Worked Example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IEC 62443-2-1 §4.2  ·  Annex A §A.2  ·  Annex B §B.3–B.4  ·  Tables A.1–A.6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2 · RISK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Element: Business Rationale — Securing Management Commitment First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§4.2.2 · Annex B Step 1 · Without this, your CSMS will be defunded when priorities shift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8430768" cy="512064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" y="1664208"/>
            <a:ext cx="566928" cy="182880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6642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SHOULD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15568" y="160934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4.2.2.1 — The organisation SHOULD develop a high-level business rationale for the CSMS based on the organisation's specific cyber risk, safety requirements, and regulatory obligations.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" y="2231136"/>
            <a:ext cx="8430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  Practical Example: Business Rationale for Sunrise Refinery CSMS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2596896"/>
            <a:ext cx="4069080" cy="102412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" y="2596896"/>
            <a:ext cx="54864" cy="1024128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651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Business Driver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294436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Refinery processes 120,000 bbl/day. A cyber incident disabling the DCS for 48h = $14.4M lost production + regulatory penalties.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596896"/>
            <a:ext cx="4069080" cy="102412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596896"/>
            <a:ext cx="54864" cy="1024128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91456" y="2651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 Safety Driver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91456" y="294436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Triconex SIS on Unit 3 was discovered connected to the corporate LAN. An adversary with access could disable emergency shutdown. HSE risk: catastrophic.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749040"/>
            <a:ext cx="4069080" cy="102412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3749040"/>
            <a:ext cx="54864" cy="1024128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8039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Regulatory Driver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" y="409651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NERC CIP (if grid-connected), NIST CSF, and local HSE regulator are requiring documented CSMS by Q3. Non-compliance = operating licence risk.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749040"/>
            <a:ext cx="4069080" cy="102412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3749040"/>
            <a:ext cx="54864" cy="1024128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91456" y="38039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Stakeholder Alignment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91456" y="409651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Maintenance, IT, and Safety — all identified as co-owners. CSMS Steering Committee established reporting to Plant Manager.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2 · RISK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Selecting Your Risk Assessment Methodology — A SHALL Requirement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§4.2.3.1 (SHALL) · §4.2.3.2 (SHOULD) · You must choose, document, and train on your method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4.2.3.1 — The organisation SHALL select a particular risk assessment methodology.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1993392"/>
            <a:ext cx="4069080" cy="128016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993392"/>
            <a:ext cx="54864" cy="12801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0482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HAZOP / LOPA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" y="2414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Process industries (refinery, chemical, oil &amp; gas)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Integrates with existing process safety. Team familiar with it.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962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Can be slow; needs process knowledge. Not cyber-native.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993392"/>
            <a:ext cx="4069080" cy="128016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1993392"/>
            <a:ext cx="54864" cy="128016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91456" y="20482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ISA/IEC 62443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Matrix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91456" y="2414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Purpose-built for IACS environments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1456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Directly aligned to this standard. SL-T output. Industry accepted.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91456" y="2962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Requires OT + cyber expertise in the assessment team.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3410712"/>
            <a:ext cx="4069080" cy="128016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" y="3410712"/>
            <a:ext cx="54864" cy="12801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34655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NIST SP 800-30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" y="3831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Organisations with existing IT risk programmes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" y="4105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Well documented. Connects IT and OT risk. Widely understood.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" y="43799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 OT-native — needs adaptation for real-time IACS constraints.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410712"/>
            <a:ext cx="4069080" cy="128016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3410712"/>
            <a:ext cx="54864" cy="1280160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91456" y="34655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Bow-Tie Analysis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91456" y="3831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High-consequence facilities (nuclear, water, power)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91456" y="4105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Visual; shows barriers clearly. Regulator-friendly. HSE integrated.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91456" y="43799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Resource-intensive. Complex for large IACS inventories.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7472" y="4773168"/>
            <a:ext cx="8430768" cy="256032"/>
          </a:xfrm>
          <a:prstGeom prst="rect">
            <a:avLst/>
          </a:prstGeom>
          <a:solidFill>
            <a:srgbClr val="00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7823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Tutor note: Document WHY you chose this methodology. The standard requires you to have selected it — an external auditor will ask to see the documented selection and the team training records.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2 · RISK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Practical: Build Your Risk Matrix — Likelihood × Consequence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A Tables A.1, A.2, A.3 · The foundation of every risk scoring decision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 SCALE (Table A.1)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901952"/>
            <a:ext cx="3886200" cy="62179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1901952"/>
            <a:ext cx="457200" cy="62179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" y="193852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" y="22494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1938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to occur in the next 12 months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22311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Unpatched HMI with internet exposure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2596896"/>
            <a:ext cx="3886200" cy="62179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2596896"/>
            <a:ext cx="457200" cy="62179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" y="263347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" y="29443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633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occur within 5 years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8680" y="2926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Phishing email targeting control room operator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3291840"/>
            <a:ext cx="3886200" cy="62179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3291840"/>
            <a:ext cx="457200" cy="621792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6616" y="332841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6616" y="363931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" y="33284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Unlikely — requires specific knowledge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68680" y="36210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Nation-state targeting obscure legacy PLC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3986784"/>
            <a:ext cx="3886200" cy="62179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47472" y="3986784"/>
            <a:ext cx="457200" cy="621792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6616" y="402336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6616" y="433425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" y="4023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with exceptional circumstances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8680" y="43159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Air-gapped SIS in locked room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0" y="15727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CONSEQUENCE SCALE (Table A.2)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1901952"/>
            <a:ext cx="4206240" cy="62179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0" y="1901952"/>
            <a:ext cx="502920" cy="62179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81144" y="2011680"/>
            <a:ext cx="484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Catastrophic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81144" y="2322576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38928" y="201168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Fatalities, major environmental damage, total production loss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2596896"/>
            <a:ext cx="4206240" cy="62179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0" y="2596896"/>
            <a:ext cx="502920" cy="62179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81144" y="2706624"/>
            <a:ext cx="484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81144" y="3017520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38928" y="2706624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injuries, significant environmental impact, months offline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3291840"/>
            <a:ext cx="4206240" cy="62179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572000" y="3291840"/>
            <a:ext cx="502920" cy="621792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81144" y="3401568"/>
            <a:ext cx="484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81144" y="3712464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38928" y="340156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injuries, limited env. impact, days offline, recoverable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0" y="3986784"/>
            <a:ext cx="4206240" cy="62179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572000" y="3986784"/>
            <a:ext cx="502920" cy="621792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581144" y="4096512"/>
            <a:ext cx="484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Negligible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81144" y="4407408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38928" y="4096512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injury, no env. impact, hours offline, fully recoverable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47472" y="4736592"/>
            <a:ext cx="8430768" cy="29260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= Likelihood (1–4) × Consequence (1–4).  Next slide shows the full risk matrix and how to score your IACS assets.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2 · RISK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Practical: Scoring the Risk Register — Sunrise Refinery Example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A Tables A.3, A.5, A.6 · §4.2.3.13 (SHALL document results) · This is your living risk management document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MATRIX  (Likelihood × Consequence)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 rot="16200000">
            <a:off x="347472" y="338328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Likelihood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3712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→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41248" y="17373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Neg(1)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36192" y="17373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Marg(2)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231136" y="17373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Crit(3)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926080" y="17373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Catas(4)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7472" y="3328416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Remote(1)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7472" y="2871216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Low(2)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2414016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Medium(3)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1956816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High(4)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77824" y="3328416"/>
            <a:ext cx="658368" cy="420624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7824" y="3401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572768" y="3328416"/>
            <a:ext cx="658368" cy="420624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72768" y="3401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67712" y="3328416"/>
            <a:ext cx="658368" cy="42062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67712" y="3401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62656" y="3328416"/>
            <a:ext cx="658368" cy="4206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62656" y="3401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77824" y="2871216"/>
            <a:ext cx="658368" cy="420624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77824" y="29443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572768" y="2871216"/>
            <a:ext cx="658368" cy="42062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572768" y="29443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67712" y="2871216"/>
            <a:ext cx="658368" cy="4206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67712" y="29443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962656" y="2871216"/>
            <a:ext cx="658368" cy="4206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962656" y="29443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77824" y="2414016"/>
            <a:ext cx="658368" cy="42062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77824" y="24871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572768" y="2414016"/>
            <a:ext cx="658368" cy="4206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572768" y="24871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67712" y="2414016"/>
            <a:ext cx="658368" cy="4206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267712" y="24871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962656" y="2414016"/>
            <a:ext cx="658368" cy="4206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962656" y="24871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77824" y="1956816"/>
            <a:ext cx="658368" cy="4206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77824" y="20299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572768" y="1956816"/>
            <a:ext cx="658368" cy="4206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572768" y="20299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67712" y="1956816"/>
            <a:ext cx="658368" cy="4206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267712" y="20299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962656" y="1956816"/>
            <a:ext cx="658368" cy="4206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962656" y="20299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822192" y="15727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REGISTER EXTRACT — Sunrise Refinery (§4.2.3.13 SHALL)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822192" y="1920240"/>
            <a:ext cx="1463040" cy="256032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858768" y="19202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285232" y="1920240"/>
            <a:ext cx="1920240" cy="256032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321808" y="1920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Scenario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205472" y="1920240"/>
            <a:ext cx="320040" cy="256032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242048" y="1920240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525512" y="1920240"/>
            <a:ext cx="320040" cy="256032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562088" y="1920240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845552" y="1920240"/>
            <a:ext cx="475488" cy="256032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882128" y="1920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321040" y="1920240"/>
            <a:ext cx="2340864" cy="256032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357616" y="19202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Required Action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822192" y="2231136"/>
            <a:ext cx="1463040" cy="4754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858768" y="2267712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DCS (Triconex)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285232" y="2231136"/>
            <a:ext cx="1920240" cy="4754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321808" y="2267712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LAN-connected SIS reachable from corporate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205472" y="2231136"/>
            <a:ext cx="320040" cy="4754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242048" y="2267712"/>
            <a:ext cx="246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525512" y="2231136"/>
            <a:ext cx="320040" cy="4754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562088" y="2267712"/>
            <a:ext cx="246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845552" y="2231136"/>
            <a:ext cx="475488" cy="47548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882128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321040" y="2231136"/>
            <a:ext cx="2340864" cy="4754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357616" y="2267712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isolation — air gap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822192" y="2761488"/>
            <a:ext cx="1463040" cy="47548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858768" y="2798064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 HMI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285232" y="2761488"/>
            <a:ext cx="1920240" cy="47548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321808" y="2798064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Windows 7, no AV, USB enabled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205472" y="2761488"/>
            <a:ext cx="320040" cy="47548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242048" y="2798064"/>
            <a:ext cx="246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525512" y="2761488"/>
            <a:ext cx="320040" cy="47548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562088" y="2798064"/>
            <a:ext cx="246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845552" y="2761488"/>
            <a:ext cx="475488" cy="47548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882128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321040" y="2761488"/>
            <a:ext cx="2340864" cy="47548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8357616" y="2798064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Patch/replace; disable USB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3822192" y="3291840"/>
            <a:ext cx="1463040" cy="4754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3858768" y="332841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Historian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285232" y="3291840"/>
            <a:ext cx="1920240" cy="4754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321808" y="332841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DMZ without authentication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7205472" y="3291840"/>
            <a:ext cx="320040" cy="4754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7242048" y="3328416"/>
            <a:ext cx="246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525512" y="3291840"/>
            <a:ext cx="320040" cy="4754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7562088" y="3328416"/>
            <a:ext cx="246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7845552" y="3291840"/>
            <a:ext cx="475488" cy="47548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7882128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8321040" y="3291840"/>
            <a:ext cx="2340864" cy="4754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8357616" y="3328416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required; VLAN isolation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3822192" y="3822192"/>
            <a:ext cx="1463040" cy="47548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3858768" y="385876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Compressor PLC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5285232" y="3822192"/>
            <a:ext cx="1920240" cy="47548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321808" y="3858768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vendor password unchanged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7205472" y="3822192"/>
            <a:ext cx="320040" cy="47548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7242048" y="3858768"/>
            <a:ext cx="246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7525512" y="3822192"/>
            <a:ext cx="320040" cy="47548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7562088" y="3858768"/>
            <a:ext cx="246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7845552" y="3822192"/>
            <a:ext cx="475488" cy="47548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7882128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8321040" y="3822192"/>
            <a:ext cx="2340864" cy="47548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8357616" y="3858768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passwords immediately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3822192" y="4352544"/>
            <a:ext cx="1463040" cy="4754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3858768" y="438912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Instruments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5285232" y="4352544"/>
            <a:ext cx="1920240" cy="4754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5321808" y="4389120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cyber interface — physical tamper only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7205472" y="4352544"/>
            <a:ext cx="320040" cy="4754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7242048" y="4389120"/>
            <a:ext cx="246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7525512" y="4352544"/>
            <a:ext cx="320040" cy="4754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7562088" y="4389120"/>
            <a:ext cx="246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7845552" y="4352544"/>
            <a:ext cx="475488" cy="475488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7882128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8321040" y="4352544"/>
            <a:ext cx="2340864" cy="475488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8357616" y="438912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perimeter control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2 · RISK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Reassessment Triggers — When Must You Re-Run the Risk Assessment?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§4.2.3.10 (SHALL) · §4.2.3.12 (SHALL across all lifecycle stages) · Risk is not static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4.2.3.10 — The organisation SHALL identify the risk and vulnerability reassessment triggers — events that require a new assessment.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1993392"/>
            <a:ext cx="4069080" cy="1316736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993392"/>
            <a:ext cx="54864" cy="131673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066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Major IACS Change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New PLC/DCS system installed in a zone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615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SCADA software version upgrade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Network architecture change — new DMZ created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0540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Integration of new vendor system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993392"/>
            <a:ext cx="4069080" cy="1316736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993392"/>
            <a:ext cx="54864" cy="1316736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91456" y="2066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 Security Incident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Malware detected on OT network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64608" y="2615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Unauthorised access to control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64608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Near-miss: USB found in control room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64608" y="30540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Ransomware hit a peer company in same industry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438144"/>
            <a:ext cx="4069080" cy="1316736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3438144"/>
            <a:ext cx="54864" cy="1316736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3511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External Change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New published vulnerability in your PLC firmware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0599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Regulator issues new cyber security guidance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279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Threat landscape change — new ICS-CERT advisory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498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Supplier security breach impacting your systems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438144"/>
            <a:ext cx="4069080" cy="1316736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3438144"/>
            <a:ext cx="54864" cy="1316736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91456" y="3511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C9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⏰  Elapsed Time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Minimum: annual full review of risk register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64608" y="40599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High-risk zones: 6-monthly lightweight review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4279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Post-commissioning review at 12 months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64608" y="4498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Contract renewal with vendors accessing IACS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7472" y="4736592"/>
            <a:ext cx="8430768" cy="29260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§4.2.3.12 (SHALL): Risk assessments must be conducted through ALL stages of the IACS lifecycle — design, commissioning, operation, and decommissioning. Add this to your project gate reviews.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4A261">
                    <a:alpha val="3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320040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7830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Addressing Risk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the CSMS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0" y="3200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CSMS Scope &amp; Governance  ·  Training Programme  ·  Security Policies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  ·  Access Control (3 elements)  ·  Physical Security  ·  Personnel Security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IEC 62443-2-1 §4.3.1–4.3.3  ·  Annex A §A.3.2–A.3.3  ·  Annex B §B.5–B.6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3 · POLICY &amp; CONTROLS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Element: CSMS Scope — Define Before You Build Anything Else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§4.3.2.2 · 4.3.2.2.1 SHALL · 4.3.2.2.2 SHOULD · The scope is your CSMS charter — everything flows from 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4.3.2.2.1 — The organisation SHALL develop a formal written scope for the cyber security programme.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  Practical Example: CSMS Scope Statement — Sunrise Refinery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2249424"/>
            <a:ext cx="8430768" cy="26517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" y="2249424"/>
            <a:ext cx="8430768" cy="347472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CSMS SCOPE DOCUMENT  v1.0  |  Sunrise Refinery  |  Approved: Plant Manager  |  Date: 2024-Q1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2670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Included Systems: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03120" y="2670048"/>
            <a:ext cx="6510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 (Units 1–3), SCADA Historian, HMIs (Control Room + Field), Tank Farm PLC, Compressor PLC, Fire &amp; Gas System (read-only monitoring interface)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3072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Excluded Systems: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03120" y="3072384"/>
            <a:ext cx="6510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ERP (SAP) — covered by separate IT ISMS. Laboratory LIMS — assessed as low risk, added in Phase 2 scope expansion.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3474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Included Locations: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03120" y="3474720"/>
            <a:ext cx="6510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plant (Process Areas 1–4), Control Building, Offsite Pump Station #2 (remote SCADA link)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38770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Goals: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03120" y="3877056"/>
            <a:ext cx="6510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and maintain SL-T 2 for all control zones. Integrate with existing HSE management system. Comply with regulatory framework by Q3.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4279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Timing: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03120" y="4279392"/>
            <a:ext cx="6510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(Months 1–6): Risk assessment + policy. Phase 2 (Months 7–12): Countermeasures. Phase 3 (Month 13+): Sustain &amp; audit.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4791456"/>
            <a:ext cx="8430768" cy="237744"/>
          </a:xfrm>
          <a:prstGeom prst="rect">
            <a:avLst/>
          </a:prstGeom>
          <a:solidFill>
            <a:srgbClr val="00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The scope SHOULD explain strategic goals, process, and timing (4.3.2.2.2). A narrow initial scope with planned expansion is better than an overambitious scope that stalls.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3 · POLICY &amp; CONTROLS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Element: Security Policies &amp; Procedures — The Written Rules of Engagement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§4.3.2.6 · 6 SHALL requirements · Policies are the CSMS skeleton — procedures are the muscle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HIERARCHY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0352" y="1920240"/>
            <a:ext cx="3474720" cy="53035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0352" y="1920240"/>
            <a:ext cx="3474720" cy="731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" y="2011680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1: Corporate Security Policy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" y="2212848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commitment. Signed by CEO/Plant Mgr. Sets risk tolerance. 1 page.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13232" y="2578608"/>
            <a:ext cx="3108960" cy="53035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" y="2578608"/>
            <a:ext cx="3108960" cy="731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6384" y="267004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2: IACS Cyber Security Policies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" y="2871216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policies: Access Control, Change Management, Patching, Incident Response. 5–15 pages each.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96112" y="3236976"/>
            <a:ext cx="2743200" cy="53035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96112" y="3236976"/>
            <a:ext cx="2743200" cy="73152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9264" y="3328416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3: Procedures &amp; Work Instructions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9264" y="352958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'How to request access', 'How to apply a patch'. Operators follow these.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78992" y="3895344"/>
            <a:ext cx="2377440" cy="530352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78992" y="3895344"/>
            <a:ext cx="2377440" cy="73152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52144" y="398678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7CC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4: Records &amp; Evidence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" y="4187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forms, audit logs, training records, incident reports. These prove compliance.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0" y="15727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SHALL REQUIREMENTS (Table 7)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0" y="1920240"/>
            <a:ext cx="4663440" cy="36576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33088" y="2011680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33088" y="2011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81728" y="19933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4.3.2.6.1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1956816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high-level IACS cyber security policies approved by management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0" y="2340864"/>
            <a:ext cx="4663440" cy="3657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33088" y="2432304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33088" y="24323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681728" y="24140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4.3.2.6.2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0" y="2377440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approved cyber security procedures based on the policies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0" y="2761488"/>
            <a:ext cx="4663440" cy="36576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33088" y="2852928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33088" y="28529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681728" y="28346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4.3.2.6.4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0" y="2798064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and procedures SHALL include compliance requirements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0" y="3182112"/>
            <a:ext cx="4663440" cy="3657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133088" y="3273552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133088" y="32735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681728" y="32552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4.3.2.6.5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0" y="3218688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and document the organisation's risk tolerance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14800" y="3602736"/>
            <a:ext cx="4663440" cy="36576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133088" y="3694176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33088" y="36941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681728" y="367588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4.3.2.6.6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0" y="3639312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policies and procedures to all appropriate personnel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0" y="4023360"/>
            <a:ext cx="4663440" cy="3657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133088" y="4114800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133088" y="41148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681728" y="40965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4.3.2.6.7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0" y="4059936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update regularly — validate they are current and followed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0" y="4443984"/>
            <a:ext cx="4663440" cy="36576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133088" y="4535424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133088" y="45354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681728" y="45171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4.3.2.6.8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86400" y="4480560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leadership SHALL endorse cyber security policies visibly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3 · POLICY &amp; CONTROLS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Element: Network Segmentation — Zones, Barriers &amp; the Purdue Model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§4.3.3.4 · All 3 requirements are SHALL · Figures A.8 &amp; A.9 reference architecture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4.3.3.4.1 — Develop zone-based segmentation architecture for IACS devices based on risk level.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1883664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8836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60120" y="18470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4.3.3.4.2 — High-risk IACS SHALL be isolated or use barrier devices.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2194560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1945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960120" y="21579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4.3.3.4.3 — Barrier devices SHALL block ALL non-essential traffic in/out of critical zones.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572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  Sunrise Refinery Zone Architecture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1901952"/>
            <a:ext cx="3931920" cy="47548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901952"/>
            <a:ext cx="3931920" cy="73152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9472" y="1956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CORPORATE ZONE (L4)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19472" y="21579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Email, SharePoint | Risk: Medium | SL-T: 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52160" y="2423160"/>
            <a:ext cx="1828800" cy="274320"/>
          </a:xfrm>
          <a:prstGeom prst="rect">
            <a:avLst/>
          </a:prstGeom>
          <a:solidFill>
            <a:srgbClr val="00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5216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FIREWALL / DMZ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2743200"/>
            <a:ext cx="3931920" cy="47548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2743200"/>
            <a:ext cx="3931920" cy="731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27980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DMZ (SUPERVISORY L3)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19472" y="29992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Historian, Jump Server, Patch Server | Risk: High | SL-T: 2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52160" y="3264408"/>
            <a:ext cx="1828800" cy="27432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5216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FIREWALL (OWF rule set)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3584448"/>
            <a:ext cx="3931920" cy="475488"/>
          </a:xfrm>
          <a:prstGeom prst="rect">
            <a:avLst/>
          </a:prstGeom>
          <a:solidFill>
            <a:srgbClr val="20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584448"/>
            <a:ext cx="3931920" cy="7315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9472" y="36393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ZONE (L2) — CRITICAL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19472" y="38404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DCS, HMIs, PLC Network | Risk: CRITICAL | SL-T: 2–3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4114800"/>
            <a:ext cx="3931920" cy="475488"/>
          </a:xfrm>
          <a:prstGeom prst="rect">
            <a:avLst/>
          </a:prstGeom>
          <a:solidFill>
            <a:srgbClr val="1A0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46320" y="4114800"/>
            <a:ext cx="3931920" cy="73152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19472" y="4169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ZONE (SIS — AIR GAPPED)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19472" y="43708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Triconex SIS — Unit 3 | No network connection | Physical only access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47472" y="26151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Rules: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" y="2999232"/>
            <a:ext cx="109728" cy="109728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6928" y="29077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flows downward only — never permit unsolicited inbound from corporate to control zone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4048" y="3419856"/>
            <a:ext cx="109728" cy="109728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6928" y="33284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devices block ALL non-essential ports — whitelist approach, not blacklist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84048" y="3840480"/>
            <a:ext cx="109728" cy="109728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66928" y="3749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server in DMZ for vendor remote access — never direct connection to control zone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4048" y="4261104"/>
            <a:ext cx="109728" cy="109728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6928" y="41696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SIS: physically air-gapped after risk assessment identified critical exposure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84048" y="4681728"/>
            <a:ext cx="109728" cy="109728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66928" y="45902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Wireless: prohibited in control zone — any exception requires risk assessment approval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3 · POLICY &amp; CONTROLS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Control — Three Interlocking Elements (Must Work Together)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§4.3.3.5 Account Admin · §4.3.3.6 Authentication · §4.3.3.7 Authorization · All three SHALL requirements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572768"/>
            <a:ext cx="2798064" cy="347472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572768"/>
            <a:ext cx="2798064" cy="43891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6093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Account Administration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18653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§4.3.3.5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3192" y="2212848"/>
            <a:ext cx="91440" cy="91440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12140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granted/changed/removed by authorised manager only (4.3.3.5.3)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3192" y="2615184"/>
            <a:ext cx="91440" cy="91440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ALL accounts with names + permissions (4.3.3.5.4)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3192" y="3017520"/>
            <a:ext cx="91440" cy="91440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Remove/suspend unneeded accounts immediately (4.3.3.5.5)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3192" y="3419856"/>
            <a:ext cx="91440" cy="91440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default passwords before service (4.3.3.5.7)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3730752"/>
            <a:ext cx="2596896" cy="11887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37673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0624" y="3950208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Refinery: After contractor completes annual outage, IT has 24h SLA to disable their accounts. Accounts reviewed quarterly. Spreadsheet of all IACS accounts maintained by OT Lead.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1572768"/>
            <a:ext cx="2798064" cy="347472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1572768"/>
            <a:ext cx="2798064" cy="438912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0" y="16093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Authentication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18653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§4.3.3.6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37560" y="2212848"/>
            <a:ext cx="91440" cy="91440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93008" y="212140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ALL users before system use (4.3.3.6.2)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37560" y="2615184"/>
            <a:ext cx="91440" cy="91440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93008" y="252374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auth (complex passwords) on all admin accounts (4.3.3.6.3)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37560" y="3017520"/>
            <a:ext cx="91440" cy="91440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93008" y="29260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remote users at appropriate strength (4.3.3.6.5)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37560" y="3419856"/>
            <a:ext cx="91440" cy="91440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93008" y="332841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remote login policy with failed-attempt response (4.3.3.6.6)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91840" y="3730752"/>
            <a:ext cx="2596896" cy="11887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64992" y="37673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64992" y="3950208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OT-specific caution: Account lockout after 5 failed attempts — but OWS consoles running batch processes: operators must be able to unlock immediately. Physical presence in control room = compensating control for some systems.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44768" y="1572768"/>
            <a:ext cx="2798064" cy="347472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44768" y="1572768"/>
            <a:ext cx="2798064" cy="43891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36208" y="16093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Authorization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36208" y="18653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§4.3.3.7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81928" y="2212848"/>
            <a:ext cx="91440" cy="91440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37376" y="212140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authorization security policy with documented role-based rules (4.3.3.7.1)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81928" y="2615184"/>
            <a:ext cx="91440" cy="91440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37376" y="252374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logical AND physical permission methods (4.3.3.7.2)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36208" y="3730752"/>
            <a:ext cx="2596896" cy="11887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09360" y="37673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09360" y="3950208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table: Operator = read + setpoint only. Engineer = read + configure. Admin = full. No single role has permission to both approve and implement a change (separation of duties). Safety implications reviewed for all roles.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6032" y="5047488"/>
            <a:ext cx="8631936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3 · POLICY &amp; CONTROLS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Element: Staff Training &amp; Security Awareness — A SHALL Programme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§4.3.2.4 · Table 5 · 6 requirements · A policy no one knows is a policy that doesn't exist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4.3.2.4.1 — SHALL design and implement a cyber security training programme. 4.3.2.4.2 — ALL personnel SHALL receive procedure and security training.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  Sunrise Refinery Training Matrix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2267712"/>
            <a:ext cx="1920240" cy="29260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/ Module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04288" y="2267712"/>
            <a:ext cx="1060704" cy="29260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40864" y="22860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Awareness (1h)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401568" y="2267712"/>
            <a:ext cx="1060704" cy="29260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38144" y="22860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CSMS Overview (2h)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498848" y="2267712"/>
            <a:ext cx="1060704" cy="29260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35424" y="22860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USB Policy (0.5h)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596128" y="2267712"/>
            <a:ext cx="1060704" cy="29260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32704" y="22860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 (1h)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693408" y="2267712"/>
            <a:ext cx="1060704" cy="29260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29984" y="22860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OT-specific Threats (3h)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790688" y="2267712"/>
            <a:ext cx="1060704" cy="29260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27264" y="22860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Mgmt Procedure (2h)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47472" y="2596896"/>
            <a:ext cx="1920240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2336" y="26334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Staff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304288" y="2596896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651760" y="2660904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51760" y="26517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01568" y="2596896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98848" y="2596896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46320" y="2660904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26517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96128" y="2596896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0" y="2660904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43600" y="26517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93408" y="2596896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790688" y="2596896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47472" y="2944368"/>
            <a:ext cx="1920240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02336" y="2980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 Operators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304288" y="2944368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651760" y="3008376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651760" y="2999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01568" y="2944368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749040" y="3008376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749040" y="2999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98848" y="2944368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846320" y="3008376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46320" y="2999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596128" y="2944368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943600" y="3008376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943600" y="2999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693408" y="2944368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040880" y="3008376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040880" y="2999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790688" y="2944368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47472" y="3291840"/>
            <a:ext cx="1920240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02336" y="33284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Engineers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304288" y="3291840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651760" y="3355848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651760" y="33467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401568" y="3291840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749040" y="3355848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749040" y="33467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498848" y="3291840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846320" y="3355848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846320" y="33467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596128" y="3291840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943600" y="3355848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943600" y="33467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693408" y="3291840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040880" y="3355848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040880" y="33467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790688" y="3291840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8138160" y="3355848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8138160" y="33467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47472" y="3639312"/>
            <a:ext cx="1920240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02336" y="3675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Network Team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304288" y="3639312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651760" y="3703320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651760" y="36941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401568" y="3639312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3749040" y="3703320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3749040" y="36941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498848" y="3639312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4846320" y="3703320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846320" y="36941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5596128" y="3639312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5943600" y="3703320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943600" y="36941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693408" y="3639312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7790688" y="3639312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8138160" y="3703320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8138160" y="36941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347472" y="3986784"/>
            <a:ext cx="1920240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02336" y="4023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Contractors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2304288" y="3986784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651760" y="4050792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2651760" y="40416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3401568" y="3986784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4498848" y="3986784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4846320" y="4050792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4846320" y="40416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5596128" y="3986784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5943600" y="4050792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5943600" y="40416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6693408" y="3986784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7790688" y="3986784"/>
            <a:ext cx="1060704" cy="31089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47472" y="4334256"/>
            <a:ext cx="1920240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402336" y="4370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/ Steering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2304288" y="4334256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2651760" y="4398264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2651760" y="43891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3401568" y="4334256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749040" y="4398264"/>
            <a:ext cx="365760" cy="1828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3749040" y="43891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4498848" y="4334256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5596128" y="4334256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6693408" y="4334256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7790688" y="4334256"/>
            <a:ext cx="1060704" cy="31089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347472" y="4754880"/>
            <a:ext cx="8430768" cy="2743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 also: validate training on-going (4.3.2.4.4 SHOULD) · revise as required (4.3.2.4.5 SHALL) · maintain employee training records and schedules (4.3.2.4.6 SHOULD)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7C6BFF">
                    <a:alpha val="3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320040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783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CSMS Implementation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0" y="27432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 ·  Patch Management  ·  Antivirus/Malware  ·  Backup &amp; Recovery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Classification  ·  Incident Response (3 Phases)  ·  Drills &amp; Exercises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IEC 62443-2-1 §4.3.4  ·  Annex A §A.3.4  ·  Annex B §B.7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4 · IMPLEMENTATION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Element: Change Management — Separation of Duties is Non-Negotiable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§4.3.4.3.2 SHALL · §4.3.4.3.3 SHALL · Same person cannot BOTH approve AND implement a change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4.3.4.3.2 — A change management system SHALL be developed with separation of duty principles — the same individual cannot approve and implement a change.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  Sunrise Refinery: OT Change Management Workflow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2267712"/>
            <a:ext cx="1097280" cy="2414016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" y="2267712"/>
            <a:ext cx="109728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359152"/>
            <a:ext cx="329184" cy="329184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" y="277977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(Operator / Engr)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2336" y="327355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RFC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(Request for Change)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408176" y="2926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07D8B"/>
                </a:solidFill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72768" y="2267712"/>
            <a:ext cx="1097280" cy="2414016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572768" y="2267712"/>
            <a:ext cx="1097280" cy="73152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956816" y="2359152"/>
            <a:ext cx="329184" cy="329184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56816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27632" y="277977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 Security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Advisor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27632" y="327355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+ HSE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33472" y="2926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07D8B"/>
                </a:solidFill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98064" y="2267712"/>
            <a:ext cx="1097280" cy="2414016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98064" y="2267712"/>
            <a:ext cx="1097280" cy="731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82112" y="2359152"/>
            <a:ext cx="329184" cy="329184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182112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52928" y="277977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Advisory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 (CAB)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852928" y="327355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Reject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58768" y="2926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07D8B"/>
                </a:solidFill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23360" y="2267712"/>
            <a:ext cx="1097280" cy="2414016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023360" y="2267712"/>
            <a:ext cx="1097280" cy="73152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407408" y="2359152"/>
            <a:ext cx="329184" cy="329184"/>
          </a:xfrm>
          <a:prstGeom prst="lin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07408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78224" y="277977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 Engineer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(NOT requester)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078224" y="327355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Staging/Test first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84064" y="2926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07D8B"/>
                </a:solidFill>
              </a:rPr>
              <a:t>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48656" y="2267712"/>
            <a:ext cx="1097280" cy="2414016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248656" y="2267712"/>
            <a:ext cx="1097280" cy="73152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632704" y="2359152"/>
            <a:ext cx="329184" cy="329184"/>
          </a:xfrm>
          <a:prstGeom prst="line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32704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277977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C9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Independent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7C9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03520" y="327355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Verify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Test Env.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09360" y="2926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07D8B"/>
                </a:solidFill>
              </a:rPr>
              <a:t>›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73952" y="2267712"/>
            <a:ext cx="1097280" cy="2414016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473952" y="2267712"/>
            <a:ext cx="109728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858000" y="2359152"/>
            <a:ext cx="329184" cy="329184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5800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28816" y="277977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CAB / OT Lead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528816" y="327355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534656" y="2926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07D8B"/>
                </a:solidFill>
              </a:rPr>
              <a:t>›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699248" y="2267712"/>
            <a:ext cx="1097280" cy="2414016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699248" y="2267712"/>
            <a:ext cx="1097280" cy="73152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083296" y="2359152"/>
            <a:ext cx="329184" cy="329184"/>
          </a:xfrm>
          <a:prstGeom prst="line">
            <a:avLst/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083296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754112" y="277977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 Engineer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754112" y="327355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Record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Change Log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47472" y="4754880"/>
            <a:ext cx="8430768" cy="274320"/>
          </a:xfrm>
          <a:prstGeom prst="rect">
            <a:avLst/>
          </a:prstGeom>
          <a:solidFill>
            <a:srgbClr val="1A0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47472" y="4754880"/>
            <a:ext cx="54864" cy="27432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75488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OT-Specific: §4.3.4.3.3 (SHALL) requires technically knowledgeable review of HSE and cyber security risk for ALL proposed changes. Include process safety engineers in the CAB for IACS changes.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4 · IMPLEMENTATION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Element: Patch Management — OT Patching is NOT the Same as IT Patching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§4.3.4.3.7 SHALL · Annex A §A.3.4.3.7 · Must determine risk of applying AND not applying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4.3.4.3.7 — A procedure for patch management SHALL be established, documented, and followed.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  OT Patch Decision Framework — Annex A §A.3.4.3.7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2267712"/>
            <a:ext cx="2724912" cy="1225296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" y="2267712"/>
            <a:ext cx="2724912" cy="54864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235915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IDENTIFY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615184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to ICS-CERT, vendor security advisories.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notification: Rockwell Allen-Bradley PLC vulnerability CVE-2024-XXXX.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18688" y="2267712"/>
            <a:ext cx="2724912" cy="1225296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18688" y="2267712"/>
            <a:ext cx="2724912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235915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ASSESS RELEVANCE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2615184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firmware version affected? Is this PLC in my scope?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YES — Unit 1 DCS PLC running v2.4 (affected). Unit 2: v2.6 (not affected).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9904" y="2267712"/>
            <a:ext cx="2724912" cy="1225296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89904" y="2267712"/>
            <a:ext cx="2724912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81344" y="235915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RISK IF APPLIED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81344" y="2615184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requires PLC restart (3–5 min downtime). Impact on SL-T?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scheduled maintenance in 6 weeks — target patch during planned outage.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3621024"/>
            <a:ext cx="2724912" cy="1225296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47472" y="3621024"/>
            <a:ext cx="2724912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8912" y="371246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RISK IF NOT APPLIED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" y="3968496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allows remote code execution via Ethernet. CVSS: 9.8.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in control zone — high consequence if exploited. Risk: CRITICAL. Compensating control: isolate from network until patched.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18688" y="3621024"/>
            <a:ext cx="2724912" cy="1225296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18688" y="3621024"/>
            <a:ext cx="2724912" cy="54864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10128" y="371246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7CC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TEST → DEPLOY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10128" y="3968496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patch to identical staging PLC. Run for 72h. Test all control functions. Vendor sign-off obtained. Deploy during outage. Update asset register.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7472" y="4791456"/>
            <a:ext cx="8430768" cy="237744"/>
          </a:xfrm>
          <a:prstGeom prst="rect">
            <a:avLst/>
          </a:prstGeom>
          <a:solidFill>
            <a:srgbClr val="00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Never patch an OT system in production without testing in staging first (Annex A §A.3.4.3.5.6 — baseline practice). Never reuse the IT patch calendar for OT — coordinate with vendor and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4 · IMPLEMENTATION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Element: Incident Planning &amp; Response — Predefined Before the Crisis Hits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§4.3.4.5 · Table 17 · 3 Phases: Plan → Respond → Recover · §4.3.4.5.1 SHALL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4.3.4.5.1 — SHALL implement an incident response plan identifying responsible personnel and defining actions.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938528"/>
            <a:ext cx="2816352" cy="309067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1938528"/>
            <a:ext cx="2816352" cy="402336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96596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PHASE 1: PLAN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" y="2523744"/>
            <a:ext cx="91440" cy="91440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43230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IRP — name responsible personnel (SHALL)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3192" y="2871216"/>
            <a:ext cx="91440" cy="91440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779776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incident categories: malware, DoS, intrusion, accidental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3192" y="3218688"/>
            <a:ext cx="91440" cy="91440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12724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unusual-activity reporting procedure (SHOULD)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3192" y="3566160"/>
            <a:ext cx="91440" cy="91440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stakeholder sign-off: Ops, IT, Safety, Management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3192" y="3913632"/>
            <a:ext cx="91440" cy="91440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82219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regular drills (SHOULD) — document outcomes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4206240"/>
            <a:ext cx="2633472" cy="7315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2336" y="4242816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 Sunrise IRP defines: Security Lead = OT Manager. Backup = HSE Manager. Contact list laminated in control room. Escalation matrix for each incident type posted on wall.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1938528"/>
            <a:ext cx="2816352" cy="309067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1938528"/>
            <a:ext cx="2816352" cy="402336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0" y="196596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 PHASE 2: RESPOND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2523744"/>
            <a:ext cx="91440" cy="91440"/>
          </a:xfrm>
          <a:prstGeom prst="lin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93008" y="243230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classify: Is it a cyber incident?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37560" y="2871216"/>
            <a:ext cx="91440" cy="91440"/>
          </a:xfrm>
          <a:prstGeom prst="lin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93008" y="2779776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IRP — follow procedure (do NOT improvise)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37560" y="3218688"/>
            <a:ext cx="91440" cy="91440"/>
          </a:xfrm>
          <a:prstGeom prst="lin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93008" y="312724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Contain: isolate affected system from network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37560" y="3566160"/>
            <a:ext cx="91440" cy="91440"/>
          </a:xfrm>
          <a:prstGeom prst="lin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93008" y="3474720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evidence where possible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37560" y="3913632"/>
            <a:ext cx="91440" cy="91440"/>
          </a:xfrm>
          <a:prstGeom prst="lin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93008" y="382219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to all appropriate organisations (SHALL)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37560" y="4261104"/>
            <a:ext cx="91440" cy="91440"/>
          </a:xfrm>
          <a:prstGeom prst="lin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93008" y="416966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EVERYTHING in real time (SHALL 4.3.4.5.8)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91840" y="4206240"/>
            <a:ext cx="2633472" cy="7315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46704" y="4242816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 Key tension: forensics vs. production recovery. Decide IN ADVANCE which takes priority for each system. Unit 1 DCS = get running fast. Corporate network = preserve forensics.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44768" y="1938528"/>
            <a:ext cx="2816352" cy="309067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44768" y="1938528"/>
            <a:ext cx="2816352" cy="402336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36208" y="196596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PHASE 3: RECOVER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81928" y="2523744"/>
            <a:ext cx="91440" cy="91440"/>
          </a:xfrm>
          <a:prstGeom prst="line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37376" y="243230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from validated, tested backups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81928" y="2871216"/>
            <a:ext cx="91440" cy="91440"/>
          </a:xfrm>
          <a:prstGeom prst="line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37376" y="2779776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system tests before returning to production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81928" y="3218688"/>
            <a:ext cx="91440" cy="91440"/>
          </a:xfrm>
          <a:prstGeom prst="line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37376" y="312724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root cause — document in incident report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81928" y="3566160"/>
            <a:ext cx="91440" cy="91440"/>
          </a:xfrm>
          <a:prstGeom prst="line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37376" y="3474720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findings to all affected parties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81928" y="3913632"/>
            <a:ext cx="91440" cy="91440"/>
          </a:xfrm>
          <a:prstGeom prst="line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37376" y="382219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and correct issues found (SHALL 4.3.4.5.10)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81928" y="4261104"/>
            <a:ext cx="91440" cy="91440"/>
          </a:xfrm>
          <a:prstGeom prst="line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37376" y="416966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CSMS policies/procedures based on lessons learned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36208" y="4206240"/>
            <a:ext cx="2633472" cy="7315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291072" y="4242816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 Post-incident review within 5 working days. Findings fed back into risk register. CSMS updated if gap identified. Management briefed with incident summary report.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4 · IMPLEMENTATION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Element: Information Classification — CSMS Documents Are Sensitive Assets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§4.3.4.4 · 4.3.4.4.1 SHALL · 4.3.4.4.2 SHALL · Your vulnerability assessment is more dangerous in the wrong hands than a key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4.3.4.4.3 (SHALL) — All logical assets within the scope of the CSMS SHALL be classified to indicate the protection required commensurate with the consequence of unauthorised disclosure.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938528"/>
            <a:ext cx="4069080" cy="1408176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938528"/>
            <a:ext cx="4069080" cy="34747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RESTRICTED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3591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Vulnerability assessment results  ·  Network architecture diagrams (detailed)  ·  Risk register with asset details  ·  CSMS policies and procedures  ·  IRP with contact names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270662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Handling: Need-to-know: CSMS team only. Encrypted storage. No email without encryption. Shred physical copies. Never in cloud without approval.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938528"/>
            <a:ext cx="4069080" cy="1408176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938528"/>
            <a:ext cx="4069080" cy="34747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3168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73168" y="23591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IACS inventory (high-level)  ·  Incident investigation reports  ·  Audit findings  ·  Patch schedule  ·  Training records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73168" y="270662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Handling: Internal staff only. Password-protected files. Access controlled by OT Manager. Log who accesses these documents.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3474720"/>
            <a:ext cx="4069080" cy="1408176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3474720"/>
            <a:ext cx="4069080" cy="347472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529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8953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General security awareness materials  ·  Emergency contact lists  ·  Site maps (non-detailed)  ·  Approved vendor lists  ·  Training schedules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42428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Handling: All employees. Normal access controls apply. Do not share externally without approval.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3474720"/>
            <a:ext cx="4069080" cy="1408176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3474720"/>
            <a:ext cx="4069080" cy="347472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73168" y="3529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73168" y="38953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General company information  ·  Regulatory filing summaries (public)  ·  Emergency contact for public (non-specific)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73168" y="42428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Handling: No restrictions. Can be shared externally freely.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7C948">
                    <a:alpha val="3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320040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783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&amp;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Mastery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0" y="3017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Audits  ·  KPIs  ·  The 5-Step CSMS Change Process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 ·  Autonomous CSMS Operation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IEC 62443-2-1 §4.4  ·  Annex A §A.4  ·  Annex B §B.8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5 · MONITORING &amp; MASTERY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Element: Conformance — Validating the CSMS is Actually Used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§4.4.2 · Table 18 · §4.4.2 Rationale: 'If it is not used, it does not add any value'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8430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"Irrespective of the quality of a CSMS, if it is not used, it does not add any value and does not help reduce risk."  — IEC 62443-2-1 §4.4.2 Rationale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2011680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  Sunrise Refinery Conformance Audit Programme (4.4.2.1 SHALL)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2359152"/>
            <a:ext cx="8430768" cy="566928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" y="2359152"/>
            <a:ext cx="54864" cy="56692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1463040" cy="2743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505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Quarterly Spot Check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11680" y="24140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Account review: all IACS accounts vs. active employees. Default passwords. Terminated user cleanup.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11680" y="26700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Account audit report, exception log, remediation tracker.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45059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OT Security Lead reviews AD/account lists. Compare vs. HR changes in quarter.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2980944"/>
            <a:ext cx="8430768" cy="56692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2980944"/>
            <a:ext cx="54864" cy="566928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127248"/>
            <a:ext cx="1463040" cy="27432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127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Bi-Annual Technical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011680" y="30358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Firewall rules vs. approved whitelist. Patch status vs. schedule. AV signatures. Backup test result.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11680" y="32918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Firewall rule review report. Patch compliance %. Backup verification log.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94960" y="307238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OT Engineer + external specialist. No disruption to production — read-only review.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3602736"/>
            <a:ext cx="8430768" cy="566928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47472" y="3602736"/>
            <a:ext cx="54864" cy="56692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1463040" cy="2743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Annual Full CSMS Audit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11680" y="36576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All 19 requirement tables from Clause 4. Policy currency. Training records. Incident register review.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011680" y="39136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Full audit report with KPI results. Non-conformances listed. Management presentation.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94960" y="36941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Cross-functional team: OT, IT, HSE, Management. One Clause 4 section per week over 4 weeks.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4224528"/>
            <a:ext cx="8430768" cy="56692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7472" y="4224528"/>
            <a:ext cx="54864" cy="56692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4370832"/>
            <a:ext cx="1463040" cy="27432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Unscheduled (Triggered)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011680" y="42793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Any element affected by the triggering event (incident, major change, regulatory update).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11680" y="45354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Trigger event log. Impact assessment. CSMS update record if required.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94960" y="431596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Immediate review by CSMS owner. Determine scope of CSMS impact within 48h.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" y="4919472"/>
            <a:ext cx="8430768" cy="16459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492861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SHALL: Define punitive measures for non-conformance (4.4.2.5) · Specify auditor competency (4.4.2.6 SHOULD) · Maintain document audit trail (4.4.2.4 SHALL)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5 · MONITORING &amp; MASTERY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 Programme — Measuring What Matters for Autonomous CSMS Operation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A §A.4.2.3 · 7-Step Metrics Programme · Quantitative KPIs that create automatic accountability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2724912" cy="144475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572768"/>
            <a:ext cx="2724912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57984" y="1682496"/>
            <a:ext cx="804672" cy="20116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57984" y="168249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WATCH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68249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 Compliance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0299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810512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</a:rPr>
              <a:t>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25603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≥95%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76148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applied within SLA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18688" y="1572768"/>
            <a:ext cx="2724912" cy="144475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18688" y="1572768"/>
            <a:ext cx="2724912" cy="54864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0" y="1682496"/>
            <a:ext cx="804672" cy="201168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168249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ON TARGET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328416" y="168249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Audit NCs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28416" y="20299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7CC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681728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7CC99"/>
                </a:solidFill>
              </a:rPr>
              <a:t>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28416" y="25603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28416" y="276148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Non-conformances open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89904" y="1572768"/>
            <a:ext cx="2724912" cy="144475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89904" y="1572768"/>
            <a:ext cx="2724912" cy="54864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00416" y="1682496"/>
            <a:ext cx="804672" cy="201168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00416" y="168249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ON TARGET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199632" y="168249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 Review Compliance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9632" y="20299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7CC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552944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7CC99"/>
                </a:solidFill>
              </a:rPr>
              <a:t>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99632" y="25603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9632" y="276148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reviews completed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47472" y="3145536"/>
            <a:ext cx="2724912" cy="144475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47472" y="3145536"/>
            <a:ext cx="2724912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157984" y="3255264"/>
            <a:ext cx="804672" cy="20116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157984" y="325526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AT RISK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" y="325526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Drill Frequency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360273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2/yr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1810512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6F51"/>
                </a:solidFill>
              </a:rPr>
              <a:t>↑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57200" y="4133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4/yr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33425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exercises held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18688" y="3145536"/>
            <a:ext cx="2724912" cy="144475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218688" y="3145536"/>
            <a:ext cx="2724912" cy="54864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029200" y="3255264"/>
            <a:ext cx="804672" cy="201168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0" y="325526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ON TARGET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328416" y="325526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 Time to Patch (Critical)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28416" y="360273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7CC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22d</a:t>
            </a:r>
            <a:endParaRPr lang="en-US" sz="3200" dirty="0"/>
          </a:p>
        </p:txBody>
      </p:sp>
      <p:sp>
        <p:nvSpPr>
          <p:cNvPr id="49" name="Text 47"/>
          <p:cNvSpPr/>
          <p:nvPr/>
        </p:nvSpPr>
        <p:spPr>
          <a:xfrm>
            <a:off x="4681728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7CC99"/>
                </a:solidFill>
              </a:rPr>
              <a:t>↓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3328416" y="4133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≤30d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328416" y="433425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to apply critical patch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089904" y="3145536"/>
            <a:ext cx="2724912" cy="144475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089904" y="3145536"/>
            <a:ext cx="2724912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900416" y="3255264"/>
            <a:ext cx="804672" cy="20116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900416" y="325526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WATCH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199632" y="325526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Staff Training Completion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199632" y="360273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</a:t>
            </a:r>
            <a:endParaRPr lang="en-US" sz="3200" dirty="0"/>
          </a:p>
        </p:txBody>
      </p:sp>
      <p:sp>
        <p:nvSpPr>
          <p:cNvPr id="58" name="Text 56"/>
          <p:cNvSpPr/>
          <p:nvPr/>
        </p:nvSpPr>
        <p:spPr>
          <a:xfrm>
            <a:off x="7552944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</a:rPr>
              <a:t>↑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6199632" y="4133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199632" y="433425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Role-mandatory training done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47472" y="4773168"/>
            <a:ext cx="8430768" cy="2743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57200" y="4791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Report KPIs to management quarterly. Poor marks over two consecutive periods = systemic problem requiring root cause analysis. Define thresholds that trigger unscheduled CSMS review (§4.4.3.3 SHOULD).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5 · MONITORING &amp; MASTERY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5-Step CSMS Change Management Process — Keeping the CSMS Current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A §A.4.3.5 · §4.4.3.1 SHALL assign an organisation to manage CSMS changes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SHALL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4.4.3.1 — An organisation SHALL be assigned to manage and coordinate CSMS refinement and changes using a defined method.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1938528"/>
            <a:ext cx="1609344" cy="309067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938528"/>
            <a:ext cx="1609344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50976" y="2029968"/>
            <a:ext cx="402336" cy="402336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0976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0624" y="250545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Current CSMS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94436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everything: all policies, assets, procedures related to the CSMS. All stakeholders must understand the baseline before proposing changes.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0624" y="3785616"/>
            <a:ext cx="1463040" cy="111556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822192"/>
            <a:ext cx="13898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Before proposing any change, OT Manager distributes current policy list and asset inventory to CAB. Version numbers confirmed.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66544" y="1938528"/>
            <a:ext cx="1609344" cy="309067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066544" y="1938528"/>
            <a:ext cx="1609344" cy="73152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70048" y="2029968"/>
            <a:ext cx="402336" cy="402336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70048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139696" y="250545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Gaps &amp; Weaknesses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39696" y="294436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for compliance + effectiveness. Identify gaps against the standard. Consider industry best practices (§4.4.3.6 SHOULD: monitor industry CSMS strategies).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139696" y="3785616"/>
            <a:ext cx="1463040" cy="111556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76272" y="3822192"/>
            <a:ext cx="13898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Annual audit found: no formal vendor management procedure. ICS-CERT advisory highlighted new threat vector not in risk register.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785616" y="1938528"/>
            <a:ext cx="1609344" cy="309067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85616" y="1938528"/>
            <a:ext cx="1609344" cy="731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89120" y="2029968"/>
            <a:ext cx="402336" cy="402336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8912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858768" y="250545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 &amp; Evaluate Changes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58768" y="294436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changes concisely. Present to stakeholders. Evaluate for side effects. Validate new technology before incorporating — especially critical in OT.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58768" y="3785616"/>
            <a:ext cx="1463040" cy="111556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95344" y="3822192"/>
            <a:ext cx="13898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Proposed: add vendor remote access procedure. Evaluated: impact on firewall rules, jump server capacity, SIS air gap integrity. No negative side effects found.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504688" y="1938528"/>
            <a:ext cx="1609344" cy="309067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504688" y="1938528"/>
            <a:ext cx="1609344" cy="73152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08192" y="2029968"/>
            <a:ext cx="402336" cy="402336"/>
          </a:xfrm>
          <a:prstGeom prst="lin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08192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577840" y="250545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 Changes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77840" y="294436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company procedures. Obtain written approval from key stakeholders. Special attention to systems testing, validation, and vendor involvement for technical changes.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577840" y="3785616"/>
            <a:ext cx="1463040" cy="111556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14416" y="3822192"/>
            <a:ext cx="13898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Policy approved by Plant Manager. OT Engineer implements jump server configuration. IT verifies firewall rules. CAB signs off. Policy issued to all staff.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223760" y="1938528"/>
            <a:ext cx="1609344" cy="3090672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223760" y="1938528"/>
            <a:ext cx="1609344" cy="73152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827264" y="2029968"/>
            <a:ext cx="402336" cy="402336"/>
          </a:xfrm>
          <a:prstGeom prst="line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827264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296912" y="250545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C9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Performance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296912" y="294436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new/revised CSMS in place, monitor and evaluate its performance. Conduct review on a regular basis and whenever further changes occur.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296912" y="3785616"/>
            <a:ext cx="1463040" cy="111556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333488" y="3822192"/>
            <a:ext cx="13898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New vendor procedure: 90-day review scheduled. Track: vendor access requests, connection duration, any anomalies. Incorporate into next quarterly audit.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5 · MONITORING &amp; MASTERY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CSMS Review Triggers — What Forces a Review Without Being Asked?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§4.4.3.3 SHOULD · Minimum triggers: serious incidents, legal/regulatory changes, risk changes, major IACS changes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triggers makes the CSMS self-correcting — the system tells you when to review, rather than relying on memory.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938528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  Sunrise Refinery: CSMS Review Trigger Register (§4.4.3.3)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2267712"/>
            <a:ext cx="2286000" cy="2743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" y="228600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C9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33472" y="2267712"/>
            <a:ext cx="2926080" cy="2743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06624" y="2286000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C9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59552" y="2267712"/>
            <a:ext cx="2834640" cy="2743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32704" y="2286000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C9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Required Action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78608"/>
            <a:ext cx="2286000" cy="3657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2578608"/>
            <a:ext cx="45720" cy="36576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151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Incident — Severity HIGH/CRITICAL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33472" y="2578608"/>
            <a:ext cx="2926080" cy="36576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06624" y="261518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incident classified as High or Critical on Sunrise severity matrix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59552" y="2578608"/>
            <a:ext cx="2834640" cy="36576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32704" y="2615184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CSMS review within 30 days. Update risk register and IRP.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2980944"/>
            <a:ext cx="2286000" cy="3657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" y="2980944"/>
            <a:ext cx="45720" cy="3657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017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Change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33472" y="2980944"/>
            <a:ext cx="2926080" cy="3657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06624" y="301752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amended OT cyber security regulation from NIST, IEC, or national regulator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59552" y="2980944"/>
            <a:ext cx="2834640" cy="3657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32704" y="30175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 analysis within 60 days. CSMS update if required.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" y="3383280"/>
            <a:ext cx="2286000" cy="3657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7472" y="3383280"/>
            <a:ext cx="45720" cy="3657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4198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IACS Change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33472" y="3383280"/>
            <a:ext cx="2926080" cy="36576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06624" y="341985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Addition, replacement, or major upgrade of any SL-T≥2 asset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59552" y="3383280"/>
            <a:ext cx="2834640" cy="36576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32704" y="3419856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Zone-specific risk reassessment before commissioning. Update asset inventory.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7472" y="3785616"/>
            <a:ext cx="2286000" cy="3657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47472" y="3785616"/>
            <a:ext cx="45720" cy="365760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38221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 Consecutive Failure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633472" y="3785616"/>
            <a:ext cx="2926080" cy="3657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06624" y="382219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KPI below target for 2 consecutive reporting periods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59552" y="3785616"/>
            <a:ext cx="2834640" cy="3657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32704" y="382219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within 30 days. Corrective action plan with owner and due date.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47472" y="4187952"/>
            <a:ext cx="2286000" cy="3657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47472" y="4187952"/>
            <a:ext cx="45720" cy="36576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42245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Threat Alert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633472" y="4187952"/>
            <a:ext cx="2926080" cy="36576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06624" y="422452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ICS-CERT advisory with CVSS ≥ 8.0 affecting assets in our inventory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559552" y="4187952"/>
            <a:ext cx="2834640" cy="36576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632704" y="422452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technical review. Compensating controls if patch unavailable.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47472" y="4590288"/>
            <a:ext cx="2286000" cy="3657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47472" y="4590288"/>
            <a:ext cx="45720" cy="3657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7200" y="46268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Elapsed Time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633472" y="4590288"/>
            <a:ext cx="2926080" cy="3657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706624" y="462686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since last full CSMS review (regardless of other triggers)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559552" y="4590288"/>
            <a:ext cx="2834640" cy="36576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632704" y="4626864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full CSMS review per audit programme.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STAGE 5 · MONITORING &amp; MASTERY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Mastery Checklist — How to Know Your CSMS is Truly Autonomous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stages complete · An autonomous CSMS finds its own weaknesses, fixes them, and proves 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4069080" cy="40233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572768"/>
            <a:ext cx="54864" cy="402336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" y="1664208"/>
            <a:ext cx="219456" cy="219456"/>
          </a:xfrm>
          <a:prstGeom prst="lin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664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68096" y="1664208"/>
            <a:ext cx="219456" cy="21945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60704" y="162763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draw the 3-category CSMS architecture and map any control to its category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572768"/>
            <a:ext cx="4069080" cy="40233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572768"/>
            <a:ext cx="54864" cy="402336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91456" y="1664208"/>
            <a:ext cx="219456" cy="219456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91456" y="1664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84064" y="1664208"/>
            <a:ext cx="219456" cy="21945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76672" y="162763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management-signed risk register exists with prioritised risks and owners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029968"/>
            <a:ext cx="4069080" cy="40233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7472" y="2029968"/>
            <a:ext cx="54864" cy="402336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" y="2121408"/>
            <a:ext cx="219456" cy="219456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2121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8096" y="2121408"/>
            <a:ext cx="219456" cy="21945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60704" y="208483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Reassessment triggers documented and tested — risk assessment repeated at least once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029968"/>
            <a:ext cx="4069080" cy="40233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2029968"/>
            <a:ext cx="54864" cy="40233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91456" y="2121408"/>
            <a:ext cx="219456" cy="219456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91456" y="2121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84064" y="2121408"/>
            <a:ext cx="219456" cy="21945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76672" y="208483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suite written, management-endorsed, communicated, reviewed within last 12 months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2487168"/>
            <a:ext cx="4069080" cy="40233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47472" y="2487168"/>
            <a:ext cx="54864" cy="40233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" y="2578608"/>
            <a:ext cx="219456" cy="219456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" y="2578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68096" y="2578608"/>
            <a:ext cx="219456" cy="21945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60704" y="254203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zone architecture implemented and verified with firewall rule review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487168"/>
            <a:ext cx="4069080" cy="40233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63440" y="2487168"/>
            <a:ext cx="54864" cy="40233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91456" y="2578608"/>
            <a:ext cx="219456" cy="219456"/>
          </a:xfrm>
          <a:prstGeom prst="lin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91456" y="2578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84064" y="2578608"/>
            <a:ext cx="219456" cy="21945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76672" y="254203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 records exist for all in-scope personnel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7472" y="2944368"/>
            <a:ext cx="4069080" cy="40233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47472" y="2944368"/>
            <a:ext cx="54864" cy="402336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5488" y="3035808"/>
            <a:ext cx="219456" cy="219456"/>
          </a:xfrm>
          <a:prstGeom prst="lin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5488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68096" y="3035808"/>
            <a:ext cx="219456" cy="21945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60704" y="299923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system operating with documented separation of duties for all changes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2944368"/>
            <a:ext cx="4069080" cy="40233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663440" y="2944368"/>
            <a:ext cx="54864" cy="402336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791456" y="3035808"/>
            <a:ext cx="219456" cy="219456"/>
          </a:xfrm>
          <a:prstGeom prst="lin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91456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084064" y="3035808"/>
            <a:ext cx="219456" cy="21945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376672" y="299923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full incident response drill completed and debriefed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" y="3401568"/>
            <a:ext cx="4069080" cy="40233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47472" y="3401568"/>
            <a:ext cx="54864" cy="402336"/>
          </a:xfrm>
          <a:prstGeom prst="rect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75488" y="3493008"/>
            <a:ext cx="219456" cy="219456"/>
          </a:xfrm>
          <a:prstGeom prst="line">
            <a:avLst/>
          </a:prstGeom>
          <a:solidFill>
            <a:srgbClr val="7C6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75488" y="3493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68096" y="3493008"/>
            <a:ext cx="219456" cy="21945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060704" y="345643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restoration tested — successfully recovered test system from backup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63440" y="3401568"/>
            <a:ext cx="4069080" cy="40233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663440" y="3401568"/>
            <a:ext cx="54864" cy="402336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791456" y="3493008"/>
            <a:ext cx="219456" cy="219456"/>
          </a:xfrm>
          <a:prstGeom prst="line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791456" y="3493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084064" y="3493008"/>
            <a:ext cx="219456" cy="21945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376672" y="345643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reported to management quarterly — at least one full cycle completed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47472" y="3858768"/>
            <a:ext cx="4069080" cy="402336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347472" y="3858768"/>
            <a:ext cx="54864" cy="402336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75488" y="3950208"/>
            <a:ext cx="219456" cy="219456"/>
          </a:xfrm>
          <a:prstGeom prst="line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75488" y="3950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68096" y="3950208"/>
            <a:ext cx="219456" cy="21945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060704" y="391363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non-conformance identified, documented, and resolved through formal process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63440" y="3858768"/>
            <a:ext cx="4069080" cy="40233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663440" y="3858768"/>
            <a:ext cx="54864" cy="402336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791456" y="3950208"/>
            <a:ext cx="219456" cy="219456"/>
          </a:xfrm>
          <a:prstGeom prst="line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791456" y="3950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084064" y="3950208"/>
            <a:ext cx="219456" cy="219456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376672" y="391363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CSMS updated at least once based on audit findings, incident, or trigger event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Have Completed the IEC 62443-2-1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CSMS Mastery Programme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51760" cy="265176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51760" cy="91440"/>
          </a:xfrm>
          <a:prstGeom prst="rect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08760" y="1993392"/>
            <a:ext cx="548640" cy="548640"/>
          </a:xfrm>
          <a:prstGeom prst="line">
            <a:avLst/>
          </a:prstGeom>
          <a:solidFill>
            <a:srgbClr val="57C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0876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7CC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072384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all SHALL requirements documented, approved, and implemented. An external auditor would find no major gaps. The CSMS exists.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1828800"/>
            <a:ext cx="2651760" cy="265176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91840" y="1828800"/>
            <a:ext cx="2651760" cy="9144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43400" y="1993392"/>
            <a:ext cx="548640" cy="548640"/>
          </a:xfrm>
          <a:prstGeom prst="lin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4340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83280" y="2651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29000" y="3072384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CSMS demonstrably reduces risk. Incidents are detected, responded to, and learned from. KPIs show improving trend. The CSMS works.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828800"/>
            <a:ext cx="2651760" cy="265176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480" y="1828800"/>
            <a:ext cx="2651760" cy="91440"/>
          </a:xfrm>
          <a:prstGeom prst="rect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78040" y="1993392"/>
            <a:ext cx="548640" cy="548640"/>
          </a:xfrm>
          <a:prstGeom prst="line">
            <a:avLst/>
          </a:prstGeom>
          <a:solidFill>
            <a:srgbClr val="F7C9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7804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17920" y="2651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C9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3640" y="3072384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CSMS finds its own weaknesses through triggers and audits. It updates itself through the 5-step process. It requires no external prompting. The CSMS is institutionalised.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8737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62443-2-1:2010  ·  Complete Training Deck  ·  Stages 1–5  ·  Practical &amp; Standards-Based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5971</Words>
  <Application>Microsoft Macintosh PowerPoint</Application>
  <PresentationFormat>On-screen Show (16:9)</PresentationFormat>
  <Paragraphs>795</Paragraphs>
  <Slides>33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IEC 62443-2-1 CSMS Mastery — Complete Training</dc:title>
  <dc:subject>PptxGenJS Presentation</dc:subject>
  <dc:creator>OT Security Tutor | 25+ Years Experience</dc:creator>
  <cp:lastModifiedBy>Daniel De Jager</cp:lastModifiedBy>
  <cp:revision>2</cp:revision>
  <dcterms:created xsi:type="dcterms:W3CDTF">2026-05-07T00:41:14Z</dcterms:created>
  <dcterms:modified xsi:type="dcterms:W3CDTF">2026-05-07T01:28:20Z</dcterms:modified>
</cp:coreProperties>
</file>