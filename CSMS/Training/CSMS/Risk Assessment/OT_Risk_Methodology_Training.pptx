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384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62443-2-1:2010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Risk Assessment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92608" y="252374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Programme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–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566928"/>
            <a:ext cx="5029200" cy="658368"/>
          </a:xfrm>
          <a:prstGeom prst="rect">
            <a:avLst>
              <a:gd name="adj" fmla="val 11111"/>
            </a:avLst>
          </a:prstGeom>
          <a:solidFill>
            <a:srgbClr val="112035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0" y="566928"/>
            <a:ext cx="73152" cy="65836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Shape 7"/>
          <p:cNvSpPr/>
          <p:nvPr/>
        </p:nvSpPr>
        <p:spPr>
          <a:xfrm>
            <a:off x="4059936" y="713232"/>
            <a:ext cx="365760" cy="3657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4059936" y="713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6217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8595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vs IT Risk Fundamentals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408176"/>
            <a:ext cx="5029200" cy="658368"/>
          </a:xfrm>
          <a:prstGeom prst="rect">
            <a:avLst>
              <a:gd name="adj" fmla="val 11111"/>
            </a:avLst>
          </a:prstGeom>
          <a:solidFill>
            <a:srgbClr val="112035"/>
          </a:solidFill>
          <a:ln/>
          <a:effectLst>
            <a:outerShdw sx="100000" sy="100000" kx="0" ky="0" algn="bl" rotWithShape="0" blurRad="967740000" dist="483870000" dir="486000000000">
              <a:srgbClr val="000000">
                <a:alpha val="25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408176"/>
            <a:ext cx="73152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059936" y="155448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4059936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463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17007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Methodologies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2249424"/>
            <a:ext cx="5029200" cy="658368"/>
          </a:xfrm>
          <a:prstGeom prst="rect">
            <a:avLst>
              <a:gd name="adj" fmla="val 11111"/>
            </a:avLst>
          </a:prstGeom>
          <a:solidFill>
            <a:srgbClr val="112035"/>
          </a:solidFill>
          <a:ln/>
          <a:effectLst>
            <a:outerShdw sx="100000" sy="100000" kx="0" ky="0" algn="bl" rotWithShape="0" blurRad="12290298000000" dist="6145149000000" dir="29160000000000000">
              <a:srgbClr val="000000">
                <a:alpha val="250000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2249424"/>
            <a:ext cx="73152" cy="65836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059936" y="2395728"/>
            <a:ext cx="365760" cy="3657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2" name="Text 20"/>
          <p:cNvSpPr/>
          <p:nvPr/>
        </p:nvSpPr>
        <p:spPr>
          <a:xfrm>
            <a:off x="4059936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30428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542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Matrix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3090672"/>
            <a:ext cx="5029200" cy="658368"/>
          </a:xfrm>
          <a:prstGeom prst="rect">
            <a:avLst>
              <a:gd name="adj" fmla="val 11111"/>
            </a:avLst>
          </a:prstGeom>
          <a:solidFill>
            <a:srgbClr val="112035"/>
          </a:solidFill>
          <a:ln/>
          <a:effectLst>
            <a:outerShdw sx="100000" sy="100000" kx="0" ky="0" algn="bl" rotWithShape="0" blurRad="156086784600000000" dist="78043392300000000" dir="1.7496e+21">
              <a:srgbClr val="000000">
                <a:alpha val="250000000000000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3090672"/>
            <a:ext cx="73152" cy="65836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7" name="Shape 25"/>
          <p:cNvSpPr/>
          <p:nvPr/>
        </p:nvSpPr>
        <p:spPr>
          <a:xfrm>
            <a:off x="4059936" y="3236976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8" name="Text 26"/>
          <p:cNvSpPr/>
          <p:nvPr/>
        </p:nvSpPr>
        <p:spPr>
          <a:xfrm>
            <a:off x="4059936" y="3236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14553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3931920"/>
            <a:ext cx="5029200" cy="658368"/>
          </a:xfrm>
          <a:prstGeom prst="rect">
            <a:avLst>
              <a:gd name="adj" fmla="val 11111"/>
            </a:avLst>
          </a:prstGeom>
          <a:solidFill>
            <a:srgbClr val="112035"/>
          </a:solidFill>
          <a:ln/>
          <a:effectLst>
            <a:outerShdw sx="100000" sy="100000" kx="0" ky="0" algn="bl" rotWithShape="0" blurRad="1.98230216442e+21" dist="991151082210000000000" dir="1.04976e+26">
              <a:srgbClr val="000000">
                <a:alpha val="2.5e+2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0" y="3931920"/>
            <a:ext cx="73152" cy="658368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3" name="Shape 31"/>
          <p:cNvSpPr/>
          <p:nvPr/>
        </p:nvSpPr>
        <p:spPr>
          <a:xfrm>
            <a:off x="4059936" y="4078224"/>
            <a:ext cx="365760" cy="36576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34" name="Text 32"/>
          <p:cNvSpPr/>
          <p:nvPr/>
        </p:nvSpPr>
        <p:spPr>
          <a:xfrm>
            <a:off x="4059936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9867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&amp; Mastery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2608" y="47548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 Risk Professionals entering OT Security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0BFA5">
                    <a:alpha val="2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vs IT Risk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401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IT risk toolkit will fail — and sometimes harm — when applied to IACS without adaptation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4754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62443-2-1:2010  ·  §4.2  ·  §4.2.3.1 SHALL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· FOUNDATIONS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OT Risk Assessment is Fundamentally Different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cyber incident that causes a data breach in IT causes a physical catastrophe in 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274320"/>
            <a:ext cx="1920240" cy="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743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274320"/>
            <a:ext cx="3035808" cy="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" name="Text 8"/>
          <p:cNvSpPr/>
          <p:nvPr/>
        </p:nvSpPr>
        <p:spPr>
          <a:xfrm>
            <a:off x="2395728" y="274320"/>
            <a:ext cx="285292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0096" y="274320"/>
            <a:ext cx="3035808" cy="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2" name="Text 10"/>
          <p:cNvSpPr/>
          <p:nvPr/>
        </p:nvSpPr>
        <p:spPr>
          <a:xfrm>
            <a:off x="5431536" y="274320"/>
            <a:ext cx="285292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/ IACS Security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883664"/>
            <a:ext cx="1920240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88366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4288" y="1883664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6" name="Text 14"/>
          <p:cNvSpPr/>
          <p:nvPr/>
        </p:nvSpPr>
        <p:spPr>
          <a:xfrm>
            <a:off x="2395728" y="1883664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of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0096" y="1883664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1883664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availability, process integrity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313432"/>
            <a:ext cx="192024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231343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2313432"/>
            <a:ext cx="303580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2" name="Text 20"/>
          <p:cNvSpPr/>
          <p:nvPr/>
        </p:nvSpPr>
        <p:spPr>
          <a:xfrm>
            <a:off x="2395728" y="2313432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breach, reputation loss, fines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0096" y="2313432"/>
            <a:ext cx="303580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31536" y="2313432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fatality, environmental release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2743200"/>
            <a:ext cx="1920240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27432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tolerance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04288" y="2743200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8" name="Text 26"/>
          <p:cNvSpPr/>
          <p:nvPr/>
        </p:nvSpPr>
        <p:spPr>
          <a:xfrm>
            <a:off x="2395728" y="274320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— BCP acceptable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0096" y="2743200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274320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ZERO — shutdown itself creates HSE risk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" y="3172968"/>
            <a:ext cx="192024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31729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cadence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3172968"/>
            <a:ext cx="303580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4" name="Text 32"/>
          <p:cNvSpPr/>
          <p:nvPr/>
        </p:nvSpPr>
        <p:spPr>
          <a:xfrm>
            <a:off x="2395728" y="3172968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Patch Tuesday — routine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0096" y="3172968"/>
            <a:ext cx="303580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6" name="Text 34"/>
          <p:cNvSpPr/>
          <p:nvPr/>
        </p:nvSpPr>
        <p:spPr>
          <a:xfrm>
            <a:off x="5431536" y="3172968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Vendor-coordinated, outage-window, often annual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" y="3602736"/>
            <a:ext cx="1920240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360273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3602736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0" name="Text 38"/>
          <p:cNvSpPr/>
          <p:nvPr/>
        </p:nvSpPr>
        <p:spPr>
          <a:xfrm>
            <a:off x="2395728" y="3602736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standard security practice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0096" y="3602736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2" name="Text 40"/>
          <p:cNvSpPr/>
          <p:nvPr/>
        </p:nvSpPr>
        <p:spPr>
          <a:xfrm>
            <a:off x="5431536" y="3602736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LETHAL — HMI lockout during emergency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40096" y="3602736"/>
            <a:ext cx="3035808" cy="402336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44" name="Text 42"/>
          <p:cNvSpPr/>
          <p:nvPr/>
        </p:nvSpPr>
        <p:spPr>
          <a:xfrm>
            <a:off x="5431536" y="3602736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LETHAL — HMI lockout during emergency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" y="4032504"/>
            <a:ext cx="192024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" y="40325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vuln scan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04288" y="4032504"/>
            <a:ext cx="303580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8" name="Text 46"/>
          <p:cNvSpPr/>
          <p:nvPr/>
        </p:nvSpPr>
        <p:spPr>
          <a:xfrm>
            <a:off x="2395728" y="4032504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— run continuously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40096" y="4032504"/>
            <a:ext cx="303580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0" name="Text 48"/>
          <p:cNvSpPr/>
          <p:nvPr/>
        </p:nvSpPr>
        <p:spPr>
          <a:xfrm>
            <a:off x="5431536" y="4032504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CRASH PLCs — requires vendor approval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40096" y="4032504"/>
            <a:ext cx="3035808" cy="402336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52" name="Text 50"/>
          <p:cNvSpPr/>
          <p:nvPr/>
        </p:nvSpPr>
        <p:spPr>
          <a:xfrm>
            <a:off x="5431536" y="4032504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CRASH PLCs — requires vendor approval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" y="4462272"/>
            <a:ext cx="1920240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" y="446227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lifetime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04288" y="4462272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6" name="Text 54"/>
          <p:cNvSpPr/>
          <p:nvPr/>
        </p:nvSpPr>
        <p:spPr>
          <a:xfrm>
            <a:off x="2395728" y="4462272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— planned refresh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40096" y="4462272"/>
            <a:ext cx="303580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8" name="Text 56"/>
          <p:cNvSpPr/>
          <p:nvPr/>
        </p:nvSpPr>
        <p:spPr>
          <a:xfrm>
            <a:off x="5431536" y="4462272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20–30+ years — 1990s PLCs still in service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4048" y="4626864"/>
            <a:ext cx="8375904" cy="347472"/>
          </a:xfrm>
          <a:prstGeom prst="rect">
            <a:avLst>
              <a:gd name="adj" fmla="val 21053"/>
            </a:avLst>
          </a:prstGeom>
          <a:solidFill>
            <a:srgbClr val="112035"/>
          </a:solidFill>
          <a:ln/>
          <a:effectLst>
            <a:outerShdw sx="100000" sy="100000" kx="0" ky="0" algn="bl" rotWithShape="0" blurRad="2.5175237488134e+25" dist="1.2587618744067e+25" dir="6.29856e+30">
              <a:srgbClr val="000000">
                <a:alpha val="2.5000000000000004e+29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84048" y="4626864"/>
            <a:ext cx="73152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1" name="Text 59"/>
          <p:cNvSpPr/>
          <p:nvPr/>
        </p:nvSpPr>
        <p:spPr>
          <a:xfrm>
            <a:off x="566928" y="4700016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66928" y="5029200"/>
            <a:ext cx="808329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§4.2.3.11 (SHALL): Physical, HSE, and cyber security risk results MUST be integrated. A control that creates a new safety hazard is not a security improvement.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 ·  The IT risk toolkit you know was built for a world where the worst outcome is information loss. In OT, the worst outcome is physical.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· FOUNDATIONS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Interlocking Risk Domains — No Single IT Method Covers All Three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2788920" cy="3493008"/>
          </a:xfrm>
          <a:prstGeom prst="rect">
            <a:avLst>
              <a:gd name="adj" fmla="val 3279"/>
            </a:avLst>
          </a:prstGeom>
          <a:solidFill>
            <a:srgbClr val="162845"/>
          </a:solidFill>
          <a:ln/>
          <a:effectLst>
            <a:outerShdw sx="100000" sy="100000" kx="0" ky="0" algn="bl" rotWithShape="0" blurRad="3.197255160993018e+29" dist="1.598627580496509e+29" dir="3.779136e+35">
              <a:srgbClr val="000000">
                <a:alpha val="2.5000000000000004e+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44752"/>
            <a:ext cx="278892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2064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 Domain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2651760"/>
            <a:ext cx="2542032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paths, threat actors, vulnerability exploitation, network exposure, authentication gaps.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IT risk tools have the most applicability — but they still need OT context.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444752"/>
            <a:ext cx="2788920" cy="3493008"/>
          </a:xfrm>
          <a:prstGeom prst="rect">
            <a:avLst>
              <a:gd name="adj" fmla="val 3279"/>
            </a:avLst>
          </a:prstGeom>
          <a:solidFill>
            <a:srgbClr val="162845"/>
          </a:solidFill>
          <a:ln/>
          <a:effectLst>
            <a:outerShdw sx="100000" sy="100000" kx="0" ky="0" algn="bl" rotWithShape="0" blurRad="4.0605140544611325e+33" dist="2.0302570272305663e+33" dir="2.2674816e+40">
              <a:srgbClr val="000000">
                <a:alpha val="2.5000000000000004e+3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44752"/>
            <a:ext cx="278892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11296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/ Safety Domain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11296" y="2651760"/>
            <a:ext cx="2542032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physically when a cyber attack succeeds.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manipulated PLC setpoint is NOT a data integrity issue. It is a vessel overpressure, a hoist collision, a gas release. The consequence chain is physical.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82512" y="1444752"/>
            <a:ext cx="2788920" cy="3493008"/>
          </a:xfrm>
          <a:prstGeom prst="rect">
            <a:avLst>
              <a:gd name="adj" fmla="val 3279"/>
            </a:avLst>
          </a:prstGeom>
          <a:solidFill>
            <a:srgbClr val="162845"/>
          </a:solidFill>
          <a:ln/>
          <a:effectLst>
            <a:outerShdw sx="100000" sy="100000" kx="0" ky="0" algn="bl" rotWithShape="0" blurRad="5.156852849165638e+37" dist="2.578426424582819e+37" dir="1.36048896e+45">
              <a:srgbClr val="000000">
                <a:alpha val="2.5000000000000002e+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1444752"/>
            <a:ext cx="278892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10528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Domain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2651760"/>
            <a:ext cx="2542032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continuity, process integrity, and the risks created BY security controls.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 lockout preventing an operator from responding to an alarm creates a new, greater risk than the one being mitigated.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72384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71616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OT risk assessment requires a hybrid approach — because no single methodology addresses all three domains simultaneously.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· PRACTICAL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Practical: Applying ISO 27005 to a DCS — Where It Breaks Down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Refinery · Unit 3 DCS Pressure Controller · Step-by-step failure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6.549203118440361e+41" dist="3.2746015592201804e+41" dir="8.16293376e+49">
              <a:srgbClr val="000000">
                <a:alpha val="2.5e+4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Identification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810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approach: DCS controller listed as an asset ✓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444752"/>
            <a:ext cx="4434840" cy="914400"/>
          </a:xfrm>
          <a:prstGeom prst="rect">
            <a:avLst>
              <a:gd name="adj" fmla="val 6000"/>
            </a:avLst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problem: PLC control logic and setpoint tables are listed as 'data'. Problem: losing their integrity is not a data issue — it is a process safety case failure. ISO 27005 has no framework for this.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444752"/>
            <a:ext cx="64008" cy="9144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2578608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8.317487960419258e+45" dist="4.158743980209629e+45" dir="4.897760256e+54">
              <a:srgbClr val="000000">
                <a:alpha val="2.5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523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Identification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2834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approach: Threat library includes malware, DoS, credential theft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468880"/>
            <a:ext cx="4434840" cy="914400"/>
          </a:xfrm>
          <a:prstGeom prst="rect">
            <a:avLst>
              <a:gd name="adj" fmla="val 6000"/>
            </a:avLst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problem: Primary DCS threats are MISSING: process manipulation (setpoint to 200% of safe level), safety system defeat (interlock disable), denial of view (HMI alarm flooding). Not in any IT threat library.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468880"/>
            <a:ext cx="64008" cy="9144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3602736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1.0563209709732457e+50" dist="5.281604854866228e+49" dir="2.9386561536e+59">
              <a:srgbClr val="000000">
                <a:alpha val="2.5e+5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3547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Assessment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3858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approach: Financial loss, reputation, regulatory penalty scored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0" y="3493008"/>
            <a:ext cx="4434840" cy="914400"/>
          </a:xfrm>
          <a:prstGeom prst="rect">
            <a:avLst>
              <a:gd name="adj" fmla="val 6000"/>
            </a:avLst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problem: Safety consequence is entirely absent from the scoring framework. A DCS cyber incident causing a fatality scores the SAME as a data breach costing the same financial amount. Risk is systematically underestimated.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493008"/>
            <a:ext cx="64008" cy="9144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4626864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1.341527633136022e+54" dist="6.70763816568011e+53" dir="1.76319369216e+64">
              <a:srgbClr val="000000">
                <a:alpha val="2.5e+6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4626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Selection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48828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approach: Controls from ISO 27001 Annex A selected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4517136"/>
            <a:ext cx="4434840" cy="914400"/>
          </a:xfrm>
          <a:prstGeom prst="rect">
            <a:avLst>
              <a:gd name="adj" fmla="val 6000"/>
            </a:avLst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problem: Mandatory password complexity → operators cannot log in during emergency. Automated session timeout → critical HMI screens go dark. The controls create new hazards by design.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4517136"/>
            <a:ext cx="64008" cy="9144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analysis is reversed in OT: start with physical consequence, work backwards to cyber threats. Not vulnerability → impact.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· §4.2 SEQUENCE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IEC 62443-2-1 Risk Model — A Specific Sequence You Must Follow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737360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1.7037400940827478e+58" dist="8.518700470413739e+57" dir="1.057916215296e+69">
              <a:srgbClr val="000000">
                <a:alpha val="2.4999999999999998e+6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54864" cy="64008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72768"/>
            <a:ext cx="7863840" cy="749808"/>
          </a:xfrm>
          <a:prstGeom prst="rect">
            <a:avLst>
              <a:gd name="adj" fmla="val 853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16374991948509e+62" dist="1.081874959742545e+62" dir="6.347497291776e+73">
              <a:srgbClr val="000000">
                <a:alpha val="2.5e+7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572768"/>
            <a:ext cx="64008" cy="7498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645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risk assessment FIRST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1664208"/>
            <a:ext cx="3017520" cy="219456"/>
          </a:xfrm>
          <a:prstGeom prst="rect">
            <a:avLst>
              <a:gd name="adj" fmla="val 33333"/>
            </a:avLst>
          </a:prstGeom>
          <a:solidFill>
            <a:srgbClr val="162845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66420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§4.2.3.3 SHALL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97510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threats, general vulnerabilities, consequences at the system level. This is the risk narrative management needs BEFORE seeing technical findings. Skipping this produces ignored reports.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365760" cy="36576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2.747962397746064e+66" dist="1.373981198873032e+66" dir="3.8084983750656e+78">
              <a:srgbClr val="000000">
                <a:alpha val="2.4999999999999997e+7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2651760"/>
            <a:ext cx="54864" cy="64008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395728"/>
            <a:ext cx="7863840" cy="749808"/>
          </a:xfrm>
          <a:prstGeom prst="rect">
            <a:avLst>
              <a:gd name="adj" fmla="val 853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3.4899122451375014e+70" dist="1.7449561225687507e+70" dir="2.28509902503936e+83">
              <a:srgbClr val="000000">
                <a:alpha val="2.4999999999999996e+8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2395728"/>
            <a:ext cx="64008" cy="7498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4688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prioritisation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77840" y="2487168"/>
            <a:ext cx="3017520" cy="219456"/>
          </a:xfrm>
          <a:prstGeom prst="rect">
            <a:avLst>
              <a:gd name="adj" fmla="val 33333"/>
            </a:avLst>
          </a:prstGeom>
          <a:solidFill>
            <a:srgbClr val="162845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4871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§4.2.3.6 SHALL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79806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IACS systems by risk. Detailed assessment resources go to P1 systems first. Document criteria — safety consequence × connectivity × existing controls.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383280"/>
            <a:ext cx="365760" cy="365760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4.432188551324627e+74" dist="2.2160942756623134e+74" dir="1.371059415023616e+88">
              <a:srgbClr val="000000">
                <a:alpha val="2.4999999999999996e+8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" y="3474720"/>
            <a:ext cx="54864" cy="64008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218688"/>
            <a:ext cx="7863840" cy="749808"/>
          </a:xfrm>
          <a:prstGeom prst="rect">
            <a:avLst>
              <a:gd name="adj" fmla="val 853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5.628879460182276e+78" dist="2.814439730091138e+78" dir="8.226356490141696e+92">
              <a:srgbClr val="000000">
                <a:alpha val="2.4999999999999997e+9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3218688"/>
            <a:ext cx="64008" cy="7498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3291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vulnerability assessment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577840" y="3310128"/>
            <a:ext cx="3017520" cy="219456"/>
          </a:xfrm>
          <a:prstGeom prst="rect">
            <a:avLst>
              <a:gd name="adj" fmla="val 33333"/>
            </a:avLst>
          </a:prstGeom>
          <a:solidFill>
            <a:srgbClr val="162845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331012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§4.2.3.7 SHALL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62102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 of specific exploitable weaknesses on P1/P2 systems. ICS-specific expertise required. Active scanning may crash PLCs — requires vendor approval and change management.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4206240"/>
            <a:ext cx="365760" cy="365760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7.14867691443149e+82" dist="3.574338457215745e+82" dir="4.9358138940850176e+97">
              <a:srgbClr val="000000">
                <a:alpha val="2.4999999999999996e+9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84048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3232" y="4297680"/>
            <a:ext cx="54864" cy="64008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4041648"/>
            <a:ext cx="7863840" cy="749808"/>
          </a:xfrm>
          <a:prstGeom prst="rect">
            <a:avLst>
              <a:gd name="adj" fmla="val 853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9.078819681327992e+86" dist="4.539409840663996e+86" dir="2.9614883364510103e+102">
              <a:srgbClr val="000000">
                <a:alpha val="2.4999999999999995e+104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" y="4041648"/>
            <a:ext cx="64008" cy="74980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" y="4114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risk assessment (selected methodology)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577840" y="4133088"/>
            <a:ext cx="3017520" cy="219456"/>
          </a:xfrm>
          <a:prstGeom prst="rect">
            <a:avLst>
              <a:gd name="adj" fmla="val 33333"/>
            </a:avLst>
          </a:prstGeom>
          <a:solidFill>
            <a:srgbClr val="162845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41330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§4.2.3.9 SHALL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" y="44439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documented methodology. Score every risk. Feed results into the Risk Register (CSMS-RA-008). Every risk traces to threat + vulnerability + consequence.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B, Step 2 is explicit: do NOT jump to detailed vulnerability assessment before the high-level risk assessment is complete. Detailed findings without risk narrative = ignored reports.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196F3">
                    <a:alpha val="2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Methodologies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2834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deep-dive into each methodology — what it is, how it works in OT,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excels, and exactly where it fails. Practical examples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Methodologies — Fit-for-Purpose in OT Environments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536192"/>
            <a:ext cx="2724912" cy="1316736"/>
          </a:xfrm>
          <a:prstGeom prst="rect">
            <a:avLst>
              <a:gd name="adj" fmla="val 5556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153010099528655e+91" dist="5.765050497643275e+90" dir="1.7768930018706063e+107">
              <a:srgbClr val="000000">
                <a:alpha val="2.4999999999999996e+10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36192"/>
            <a:ext cx="2724912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1664208"/>
            <a:ext cx="1280160" cy="219456"/>
          </a:xfrm>
          <a:prstGeom prst="rect">
            <a:avLst>
              <a:gd name="adj" fmla="val 41667"/>
            </a:avLst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6642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spine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" y="19568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ISA/IEC 62443 Risk Matrix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26771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IACS. Produces SL-T. Zone/conduit model. Use on EVERY assessment.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55264" y="1536192"/>
            <a:ext cx="2724912" cy="1316736"/>
          </a:xfrm>
          <a:prstGeom prst="rect">
            <a:avLst>
              <a:gd name="adj" fmla="val 5556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4643228264013918e+95" dist="7.321614132006959e+94" dir="1.0661358011223639e+112">
              <a:srgbClr val="000000">
                <a:alpha val="2.4999999999999995e+11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536192"/>
            <a:ext cx="2724912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6704" y="1664208"/>
            <a:ext cx="1280160" cy="219456"/>
          </a:xfrm>
          <a:prstGeom prst="rect">
            <a:avLst>
              <a:gd name="adj" fmla="val 41667"/>
            </a:avLst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46704" y="16642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consequence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64992" y="19568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 / LOPA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4992" y="226771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safety tool. Reveals what cyber deviations cause physically. Lead on SIS/DCS/safety systems.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536192"/>
            <a:ext cx="2724912" cy="1316736"/>
          </a:xfrm>
          <a:prstGeom prst="rect">
            <a:avLst>
              <a:gd name="adj" fmla="val 5556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8596899895297677e+99" dist="9.298449947648839e+98" dir="6.396814806734183e+116">
              <a:srgbClr val="000000">
                <a:alpha val="2.4999999999999996e+11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536192"/>
            <a:ext cx="2724912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664208"/>
            <a:ext cx="1280160" cy="219456"/>
          </a:xfrm>
          <a:prstGeom prst="rect">
            <a:avLst>
              <a:gd name="adj" fmla="val 41667"/>
            </a:avLst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642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threats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36208" y="19568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36208" y="226771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for software. Lead on TOS, SCADA, AGV navigation, APIs, external connections.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2999232"/>
            <a:ext cx="2724912" cy="1316736"/>
          </a:xfrm>
          <a:prstGeom prst="rect">
            <a:avLst>
              <a:gd name="adj" fmla="val 5556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361806286702805e+103" dist="1.1809031433514024e+103" dir="3.83808888404051e+121">
              <a:srgbClr val="000000">
                <a:alpha val="2.5e+1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999232"/>
            <a:ext cx="2724912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" y="3127248"/>
            <a:ext cx="1280160" cy="219456"/>
          </a:xfrm>
          <a:prstGeom prst="rect">
            <a:avLst>
              <a:gd name="adj" fmla="val 41667"/>
            </a:avLst>
          </a:prstGeom>
          <a:solidFill>
            <a:srgbClr val="7C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1272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" y="341985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Bow-Tie Analysis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" y="373075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cyber and physical safety. Best for executive and HSE audiences. Not a scoring tool.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55264" y="2999232"/>
            <a:ext cx="2724912" cy="1316736"/>
          </a:xfrm>
          <a:prstGeom prst="rect">
            <a:avLst>
              <a:gd name="adj" fmla="val 5556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999493984112562e+107" dist="1.499746992056281e+107" dir="2.302853330424306e+126">
              <a:srgbClr val="000000">
                <a:alpha val="2.4999999999999998e+12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55264" y="2999232"/>
            <a:ext cx="2724912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2" name="Shape 30"/>
          <p:cNvSpPr/>
          <p:nvPr/>
        </p:nvSpPr>
        <p:spPr>
          <a:xfrm>
            <a:off x="3346704" y="3127248"/>
            <a:ext cx="1280160" cy="219456"/>
          </a:xfrm>
          <a:prstGeom prst="rect">
            <a:avLst>
              <a:gd name="adj" fmla="val 41667"/>
            </a:avLst>
          </a:prstGeom>
          <a:solidFill>
            <a:srgbClr val="4CAF82"/>
          </a:solidFill>
          <a:ln/>
        </p:spPr>
      </p:sp>
      <p:sp>
        <p:nvSpPr>
          <p:cNvPr id="33" name="Text 31"/>
          <p:cNvSpPr/>
          <p:nvPr/>
        </p:nvSpPr>
        <p:spPr>
          <a:xfrm>
            <a:off x="3346704" y="31272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BRIDGING method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4992" y="341985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SP 800-30/82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64992" y="373075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IT risk programme exists in NIST. SP 800-82 adapts for ICS. No SL-T output.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4407408"/>
            <a:ext cx="8375904" cy="512064"/>
          </a:xfrm>
          <a:prstGeom prst="rect">
            <a:avLst>
              <a:gd name="adj" fmla="val 14286"/>
            </a:avLst>
          </a:prstGeom>
          <a:solidFill>
            <a:srgbClr val="112035"/>
          </a:solidFill>
          <a:ln/>
          <a:effectLst>
            <a:outerShdw sx="100000" sy="100000" kx="0" ky="0" algn="bl" rotWithShape="0" blurRad="3.809357359822954e+111" dist="1.904678679911477e+111" dir="1.3817119982545836e+131">
              <a:srgbClr val="000000">
                <a:alpha val="2.5e+134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" y="4407408"/>
            <a:ext cx="73152" cy="5120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480560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HYBRID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4809744"/>
            <a:ext cx="8083296" cy="-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methodology covers all three OT risk domains. IEC 62443 matrix is the spine — supplemented by HAZOP for physical consequence and STRIDE for adversarial software threats.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 SHALL: Select and document a particular methodology — including the rationale for selection. Hybrid approaches must be fully documented.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METHOD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ISA/IEC 62443 Risk Matrix — The Primary OT Cyber Risk Method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4160520" cy="1371600"/>
          </a:xfrm>
          <a:prstGeom prst="rect">
            <a:avLst>
              <a:gd name="adj" fmla="val 533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4.837883846975152e+115" dist="2.418941923487576e+115" dir="8.290271989527502e+135">
              <a:srgbClr val="000000">
                <a:alpha val="2.5e+13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44752"/>
            <a:ext cx="73152" cy="13716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is the primary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65376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Purpose-built for IACS environments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 + conduit model native to OT network design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SL-T — the mandatory output for IEC 62443-2-1 CSMS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adversarial cyber threats, not just accidental failure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Accepted by regulators, insurers, and safety bodies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Scalable: can assess 50+ IACS systems consistently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1444752"/>
            <a:ext cx="4041648" cy="1371600"/>
          </a:xfrm>
          <a:prstGeom prst="rect">
            <a:avLst>
              <a:gd name="adj" fmla="val 533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6.144112485658443e+119" dist="3.0720562428292216e+119" dir="4.974163193716501e+140">
              <a:srgbClr val="000000">
                <a:alpha val="2.5000000000000003e+14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444752"/>
            <a:ext cx="73152" cy="13716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53619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falls short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865376"/>
            <a:ext cx="37673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deeply analyse the physical consequence chain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You need HAZOP to understand what 'hoist manipulation' causes physically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SL-T determination becomes subjective without rigorous threat 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STRIDE provides the adversarial threat detail that sharpens SL-T scoring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944368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Risk Scoring Framework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3291840"/>
            <a:ext cx="80467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29184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L\C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88720" y="3291840"/>
            <a:ext cx="128016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2918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Negligible (1)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3291840"/>
            <a:ext cx="128016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32918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Marginal (2)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49040" y="3291840"/>
            <a:ext cx="128016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2918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(3)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0" y="3291840"/>
            <a:ext cx="128016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918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Catastrophic (4)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3639312"/>
            <a:ext cx="80467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639312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(4)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88720" y="3639312"/>
            <a:ext cx="1280160" cy="329184"/>
          </a:xfrm>
          <a:prstGeom prst="rect">
            <a:avLst/>
          </a:prstGeom>
          <a:solidFill>
            <a:srgbClr val="254A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36393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639312"/>
            <a:ext cx="1280160" cy="329184"/>
          </a:xfrm>
          <a:prstGeom prst="rect">
            <a:avLst/>
          </a:prstGeom>
          <a:solidFill>
            <a:srgbClr val="407B00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6393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3639312"/>
            <a:ext cx="1280160" cy="329184"/>
          </a:xfrm>
          <a:prstGeom prst="rect">
            <a:avLst/>
          </a:prstGeom>
          <a:solidFill>
            <a:srgbClr val="7A3800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36393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 12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639312"/>
            <a:ext cx="1280160" cy="329184"/>
          </a:xfrm>
          <a:prstGeom prst="rect">
            <a:avLst/>
          </a:prstGeom>
          <a:solidFill>
            <a:srgbClr val="55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6393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 16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3986784"/>
            <a:ext cx="80467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98678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 (3)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188720" y="3986784"/>
            <a:ext cx="1280160" cy="329184"/>
          </a:xfrm>
          <a:prstGeom prst="rect">
            <a:avLst/>
          </a:prstGeom>
          <a:solidFill>
            <a:srgbClr val="162008"/>
          </a:solidFill>
          <a:ln/>
        </p:spPr>
      </p:sp>
      <p:sp>
        <p:nvSpPr>
          <p:cNvPr id="38" name="Text 36"/>
          <p:cNvSpPr/>
          <p:nvPr/>
        </p:nvSpPr>
        <p:spPr>
          <a:xfrm>
            <a:off x="1188720" y="39867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3986784"/>
            <a:ext cx="1280160" cy="329184"/>
          </a:xfrm>
          <a:prstGeom prst="rect">
            <a:avLst/>
          </a:prstGeom>
          <a:solidFill>
            <a:srgbClr val="254A00"/>
          </a:solidFill>
          <a:ln/>
        </p:spPr>
      </p:sp>
      <p:sp>
        <p:nvSpPr>
          <p:cNvPr id="40" name="Text 38"/>
          <p:cNvSpPr/>
          <p:nvPr/>
        </p:nvSpPr>
        <p:spPr>
          <a:xfrm>
            <a:off x="2468880" y="39867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49040" y="3986784"/>
            <a:ext cx="1280160" cy="329184"/>
          </a:xfrm>
          <a:prstGeom prst="rect">
            <a:avLst/>
          </a:prstGeom>
          <a:solidFill>
            <a:srgbClr val="254A00"/>
          </a:solidFill>
          <a:ln/>
        </p:spPr>
      </p:sp>
      <p:sp>
        <p:nvSpPr>
          <p:cNvPr id="42" name="Text 40"/>
          <p:cNvSpPr/>
          <p:nvPr/>
        </p:nvSpPr>
        <p:spPr>
          <a:xfrm>
            <a:off x="3749040" y="39867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3986784"/>
            <a:ext cx="1280160" cy="329184"/>
          </a:xfrm>
          <a:prstGeom prst="rect">
            <a:avLst/>
          </a:prstGeom>
          <a:solidFill>
            <a:srgbClr val="55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9867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 12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" y="4334256"/>
            <a:ext cx="80467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4334256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(2)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88720" y="4334256"/>
            <a:ext cx="1280160" cy="329184"/>
          </a:xfrm>
          <a:prstGeom prst="rect">
            <a:avLst/>
          </a:prstGeom>
          <a:solidFill>
            <a:srgbClr val="162008"/>
          </a:solidFill>
          <a:ln/>
        </p:spPr>
      </p:sp>
      <p:sp>
        <p:nvSpPr>
          <p:cNvPr id="48" name="Text 46"/>
          <p:cNvSpPr/>
          <p:nvPr/>
        </p:nvSpPr>
        <p:spPr>
          <a:xfrm>
            <a:off x="1188720" y="43342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68880" y="4334256"/>
            <a:ext cx="1280160" cy="329184"/>
          </a:xfrm>
          <a:prstGeom prst="rect">
            <a:avLst/>
          </a:prstGeom>
          <a:solidFill>
            <a:srgbClr val="162008"/>
          </a:solidFill>
          <a:ln/>
        </p:spPr>
      </p:sp>
      <p:sp>
        <p:nvSpPr>
          <p:cNvPr id="50" name="Text 48"/>
          <p:cNvSpPr/>
          <p:nvPr/>
        </p:nvSpPr>
        <p:spPr>
          <a:xfrm>
            <a:off x="2468880" y="43342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49040" y="4334256"/>
            <a:ext cx="1280160" cy="329184"/>
          </a:xfrm>
          <a:prstGeom prst="rect">
            <a:avLst/>
          </a:prstGeom>
          <a:solidFill>
            <a:srgbClr val="254A00"/>
          </a:solidFill>
          <a:ln/>
        </p:spPr>
      </p:sp>
      <p:sp>
        <p:nvSpPr>
          <p:cNvPr id="52" name="Text 50"/>
          <p:cNvSpPr/>
          <p:nvPr/>
        </p:nvSpPr>
        <p:spPr>
          <a:xfrm>
            <a:off x="3749040" y="43342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0" y="4334256"/>
            <a:ext cx="1280160" cy="329184"/>
          </a:xfrm>
          <a:prstGeom prst="rect">
            <a:avLst/>
          </a:prstGeom>
          <a:solidFill>
            <a:srgbClr val="407B00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43342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84048" y="4681728"/>
            <a:ext cx="80467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6" name="Text 54"/>
          <p:cNvSpPr/>
          <p:nvPr/>
        </p:nvSpPr>
        <p:spPr>
          <a:xfrm>
            <a:off x="384048" y="4681728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(1)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88720" y="4681728"/>
            <a:ext cx="1280160" cy="329184"/>
          </a:xfrm>
          <a:prstGeom prst="rect">
            <a:avLst/>
          </a:prstGeom>
          <a:solidFill>
            <a:srgbClr val="162008"/>
          </a:solidFill>
          <a:ln/>
        </p:spPr>
      </p:sp>
      <p:sp>
        <p:nvSpPr>
          <p:cNvPr id="58" name="Text 56"/>
          <p:cNvSpPr/>
          <p:nvPr/>
        </p:nvSpPr>
        <p:spPr>
          <a:xfrm>
            <a:off x="1188720" y="46817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468880" y="4681728"/>
            <a:ext cx="1280160" cy="329184"/>
          </a:xfrm>
          <a:prstGeom prst="rect">
            <a:avLst/>
          </a:prstGeom>
          <a:solidFill>
            <a:srgbClr val="162008"/>
          </a:solidFill>
          <a:ln/>
        </p:spPr>
      </p:sp>
      <p:sp>
        <p:nvSpPr>
          <p:cNvPr id="60" name="Text 58"/>
          <p:cNvSpPr/>
          <p:nvPr/>
        </p:nvSpPr>
        <p:spPr>
          <a:xfrm>
            <a:off x="2468880" y="46817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9040" y="4681728"/>
            <a:ext cx="1280160" cy="329184"/>
          </a:xfrm>
          <a:prstGeom prst="rect">
            <a:avLst/>
          </a:prstGeom>
          <a:solidFill>
            <a:srgbClr val="162008"/>
          </a:solidFill>
          <a:ln/>
        </p:spPr>
      </p:sp>
      <p:sp>
        <p:nvSpPr>
          <p:cNvPr id="62" name="Text 60"/>
          <p:cNvSpPr/>
          <p:nvPr/>
        </p:nvSpPr>
        <p:spPr>
          <a:xfrm>
            <a:off x="3749040" y="46817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29200" y="4681728"/>
            <a:ext cx="1280160" cy="329184"/>
          </a:xfrm>
          <a:prstGeom prst="rect">
            <a:avLst/>
          </a:prstGeom>
          <a:solidFill>
            <a:srgbClr val="254A00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0" y="46817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96128" y="3310128"/>
            <a:ext cx="3127248" cy="310896"/>
          </a:xfrm>
          <a:prstGeom prst="rect">
            <a:avLst>
              <a:gd name="adj" fmla="val 11765"/>
            </a:avLst>
          </a:prstGeom>
          <a:solidFill>
            <a:srgbClr val="162008"/>
          </a:solidFill>
          <a:ln/>
        </p:spPr>
      </p:sp>
      <p:sp>
        <p:nvSpPr>
          <p:cNvPr id="66" name="Text 64"/>
          <p:cNvSpPr/>
          <p:nvPr/>
        </p:nvSpPr>
        <p:spPr>
          <a:xfrm>
            <a:off x="5596128" y="3310128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96128" y="3657600"/>
            <a:ext cx="3127248" cy="310896"/>
          </a:xfrm>
          <a:prstGeom prst="rect">
            <a:avLst>
              <a:gd name="adj" fmla="val 11765"/>
            </a:avLst>
          </a:prstGeom>
          <a:solidFill>
            <a:srgbClr val="254A00"/>
          </a:solidFill>
          <a:ln/>
        </p:spPr>
      </p:sp>
      <p:sp>
        <p:nvSpPr>
          <p:cNvPr id="68" name="Text 66"/>
          <p:cNvSpPr/>
          <p:nvPr/>
        </p:nvSpPr>
        <p:spPr>
          <a:xfrm>
            <a:off x="5596128" y="3657600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96128" y="4005072"/>
            <a:ext cx="3127248" cy="310896"/>
          </a:xfrm>
          <a:prstGeom prst="rect">
            <a:avLst>
              <a:gd name="adj" fmla="val 11765"/>
            </a:avLst>
          </a:prstGeom>
          <a:solidFill>
            <a:srgbClr val="407B00"/>
          </a:solidFill>
          <a:ln/>
        </p:spPr>
      </p:sp>
      <p:sp>
        <p:nvSpPr>
          <p:cNvPr id="70" name="Text 68"/>
          <p:cNvSpPr/>
          <p:nvPr/>
        </p:nvSpPr>
        <p:spPr>
          <a:xfrm>
            <a:off x="5596128" y="40050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96128" y="4352544"/>
            <a:ext cx="3127248" cy="310896"/>
          </a:xfrm>
          <a:prstGeom prst="rect">
            <a:avLst>
              <a:gd name="adj" fmla="val 11765"/>
            </a:avLst>
          </a:prstGeom>
          <a:solidFill>
            <a:srgbClr val="55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596128" y="4352544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Likelihood (1–4) × Consequence (1–4). Score ≥ 9 = HIGH. Score ≥ 9 with Catastrophic consequence = CRITICAL requiring SL-T 3.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WORKED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Practical: IEC 62443 Risk Matrix — Sunrise Refinery SCADA Historian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 SCADA Historian accessible from corporate DMZ without authentication — assess the cyber risk step by step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755648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7.803022856786223e+123" dist="3.9015114283931116e+123" dir="2.9844979162299e+145">
              <a:srgbClr val="000000">
                <a:alpha val="2.5000000000000004e+14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1627632"/>
            <a:ext cx="7882128" cy="694944"/>
          </a:xfrm>
          <a:prstGeom prst="rect">
            <a:avLst>
              <a:gd name="adj" fmla="val 9211"/>
            </a:avLst>
          </a:prstGeom>
          <a:solidFill>
            <a:srgbClr val="162845"/>
          </a:solidFill>
          <a:ln/>
          <a:effectLst>
            <a:outerShdw sx="100000" sy="100000" kx="0" ky="0" algn="bl" rotWithShape="0" blurRad="9.909839028118503e+127" dist="4.954919514059251e+127" dir="1.79069874973794e+150">
              <a:srgbClr val="000000">
                <a:alpha val="2.5000000000000003e+15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1627632"/>
            <a:ext cx="64008" cy="69494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16824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zone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956816"/>
            <a:ext cx="7571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 sits in Supervisory Zone (Level 3). Connects to corporate DMZ (external) AND to DCS historian feed (Level 2). This creates a conduit between zones — both must be assessed.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523744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1.2585495565710499e+132" dist="6.2927477828552495e+131" dir="1.074419249842764e+155">
              <a:srgbClr val="000000">
                <a:alpha val="2.5000000000000004e+15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523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2395728"/>
            <a:ext cx="7882128" cy="694944"/>
          </a:xfrm>
          <a:prstGeom prst="rect">
            <a:avLst>
              <a:gd name="adj" fmla="val 9211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5983579368452334e+136" dist="7.991789684226167e+135" dir="6.4465154990565844e+159">
              <a:srgbClr val="000000">
                <a:alpha val="2.5000000000000003e+16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2395728"/>
            <a:ext cx="64008" cy="69494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24505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Likelihood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724912"/>
            <a:ext cx="7571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capability: 3/4  |  Attack motivation: 3/4  |  Vulnerability exposure: 4/4 (no auth, DMZ-connected)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LIKELIHOOD = 3 (Medium) — realistic threat with high exposure, requires some effort.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291840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2.0299145797934463e+140" dist="1.0149572898967231e+140" dir="3.8679092994339505e+164">
              <a:srgbClr val="000000">
                <a:alpha val="2.5000000000000004e+16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" y="3163824"/>
            <a:ext cx="7882128" cy="694944"/>
          </a:xfrm>
          <a:prstGeom prst="rect">
            <a:avLst>
              <a:gd name="adj" fmla="val 9211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577991516337677e+144" dist="1.2889957581688384e+144" dir="2.3207455796603705e+169">
              <a:srgbClr val="000000">
                <a:alpha val="2.5000000000000003e+174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3163824"/>
            <a:ext cx="64008" cy="69494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2186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Consequence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3493008"/>
            <a:ext cx="7571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historian: 2/4 (data manipulation)  |  Production loss: 3/4  |  Lateral pivot to DCS: 4/4 (CATASTROPHIC)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CONSEQUENCE = 3 (Critical) — historian provides lateral movement path to DCS.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4059936"/>
            <a:ext cx="365760" cy="365760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3.2740492257488497e+148" dist="1.6370246128744248e+148" dir="1.3924473477962223e+174">
              <a:srgbClr val="000000">
                <a:alpha val="2.5000000000000003e+17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6112" y="3931920"/>
            <a:ext cx="7882128" cy="694944"/>
          </a:xfrm>
          <a:prstGeom prst="rect">
            <a:avLst>
              <a:gd name="adj" fmla="val 9211"/>
            </a:avLst>
          </a:prstGeom>
          <a:solidFill>
            <a:srgbClr val="162845"/>
          </a:solidFill>
          <a:ln/>
          <a:effectLst>
            <a:outerShdw sx="100000" sy="100000" kx="0" ky="0" algn="bl" rotWithShape="0" blurRad="4.158042516701039e+152" dist="2.0790212583505195e+152" dir="8.354684086777334e+178">
              <a:srgbClr val="000000">
                <a:alpha val="2.5000000000000003e+18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" y="3931920"/>
            <a:ext cx="64008" cy="69494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" y="39867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Level + SL-T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4261104"/>
            <a:ext cx="7571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Likelihood 3 × Consequence 3 = 9 → HIGH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SL-T 2 assigned to Historian zone. Countermeasures: authentication required, firewall-enforced, audit logging.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3986784"/>
            <a:ext cx="4279392" cy="237744"/>
          </a:xfrm>
          <a:prstGeom prst="rect">
            <a:avLst>
              <a:gd name="adj" fmla="val 30769"/>
            </a:avLst>
          </a:prstGeom>
          <a:solidFill>
            <a:srgbClr val="4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3986784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9 → HIGH RISK → SL-T 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historian is HIGH (not CRITICAL) because its own consequence is moderate — but the PIVOT risk to the DCS elevates the score. Always consider lateral movement in risk scoring.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METHOD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 / LOPA — The Physical Consequence Engine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and Operability Study: applies guide words to process parameters to reveal what deviations cause physically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4160520" cy="1371600"/>
          </a:xfrm>
          <a:prstGeom prst="rect">
            <a:avLst>
              <a:gd name="adj" fmla="val 533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5.28071399621032e+156" dist="2.64035699810516e+156" dir="5.0128104520664e+183">
              <a:srgbClr val="000000">
                <a:alpha val="2.5e+18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44752"/>
            <a:ext cx="73152" cy="13716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HAZOP excels in 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865376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Reveals the physical mechanism of harm from cyber deviations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Integrates with existing process safety documentation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for SIL verification under IEC 61511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Familiar to operations and safety engineers who implement controls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consequence input that sharpens IEC 62443 risk scores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1444752"/>
            <a:ext cx="4041648" cy="1371600"/>
          </a:xfrm>
          <a:prstGeom prst="rect">
            <a:avLst>
              <a:gd name="adj" fmla="val 533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6.706506775187106e+160" dist="3.353253387593553e+160" dir="3.00768627123984e+188">
              <a:srgbClr val="000000">
                <a:alpha val="2.5000000000000003e+19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444752"/>
            <a:ext cx="73152" cy="13716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53619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HAZOP cannot be the primary cyber method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65376"/>
            <a:ext cx="37673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Assumes ACCIDENTAL failure — not adversarial intent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identify cyber attack paths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Meaningless applied to software (TOS, historian, SCADA APIs)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produce SL-T outputs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Resource-intensive: full HAZOP of large terminal = months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HAZOP Guide Words Applied to DCS Pressure Controller: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3255264"/>
            <a:ext cx="749808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25526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 Word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33856" y="3255264"/>
            <a:ext cx="1645920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296" y="3255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79776" y="3255264"/>
            <a:ext cx="1920240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1" name="Text 19"/>
          <p:cNvSpPr/>
          <p:nvPr/>
        </p:nvSpPr>
        <p:spPr>
          <a:xfrm>
            <a:off x="2871216" y="3255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 Cause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0016" y="3255264"/>
            <a:ext cx="2212848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32552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12864" y="3255264"/>
            <a:ext cx="1463040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5" name="Text 23"/>
          <p:cNvSpPr/>
          <p:nvPr/>
        </p:nvSpPr>
        <p:spPr>
          <a:xfrm>
            <a:off x="7004304" y="3255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566160"/>
            <a:ext cx="749808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56616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33856" y="3566160"/>
            <a:ext cx="164592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9" name="Text 27"/>
          <p:cNvSpPr/>
          <p:nvPr/>
        </p:nvSpPr>
        <p:spPr>
          <a:xfrm>
            <a:off x="1225296" y="3566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 signal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79776" y="3566160"/>
            <a:ext cx="192024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1" name="Text 29"/>
          <p:cNvSpPr/>
          <p:nvPr/>
        </p:nvSpPr>
        <p:spPr>
          <a:xfrm>
            <a:off x="2871216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failure / Attacker cuts signal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0016" y="3566160"/>
            <a:ext cx="2212848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35661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thinks safe → no response → real overpressure builds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12864" y="3566160"/>
            <a:ext cx="146304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5" name="Shape 33"/>
          <p:cNvSpPr/>
          <p:nvPr/>
        </p:nvSpPr>
        <p:spPr>
          <a:xfrm>
            <a:off x="6912864" y="3639312"/>
            <a:ext cx="1371600" cy="219456"/>
          </a:xfrm>
          <a:prstGeom prst="rect">
            <a:avLst>
              <a:gd name="adj" fmla="val 33333"/>
            </a:avLst>
          </a:prstGeom>
          <a:solidFill>
            <a:srgbClr val="EF5350"/>
          </a:solidFill>
          <a:ln/>
        </p:spPr>
      </p:sp>
      <p:sp>
        <p:nvSpPr>
          <p:cNvPr id="36" name="Text 34"/>
          <p:cNvSpPr/>
          <p:nvPr/>
        </p:nvSpPr>
        <p:spPr>
          <a:xfrm>
            <a:off x="6958584" y="363931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CATASTROPHIC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" y="3968496"/>
            <a:ext cx="749808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3968496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33856" y="3968496"/>
            <a:ext cx="1645920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0" name="Text 38"/>
          <p:cNvSpPr/>
          <p:nvPr/>
        </p:nvSpPr>
        <p:spPr>
          <a:xfrm>
            <a:off x="1225296" y="39684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reading than actual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79776" y="3968496"/>
            <a:ext cx="1920240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2" name="Text 40"/>
          <p:cNvSpPr/>
          <p:nvPr/>
        </p:nvSpPr>
        <p:spPr>
          <a:xfrm>
            <a:off x="2871216" y="39684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manipulation in DCS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0016" y="3968496"/>
            <a:ext cx="2212848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4" name="Text 42"/>
          <p:cNvSpPr/>
          <p:nvPr/>
        </p:nvSpPr>
        <p:spPr>
          <a:xfrm>
            <a:off x="4791456" y="396849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reduces feed → process starved → shutdown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12864" y="3968496"/>
            <a:ext cx="146304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6" name="Shape 44"/>
          <p:cNvSpPr/>
          <p:nvPr/>
        </p:nvSpPr>
        <p:spPr>
          <a:xfrm>
            <a:off x="6912864" y="4041648"/>
            <a:ext cx="1371600" cy="219456"/>
          </a:xfrm>
          <a:prstGeom prst="rect">
            <a:avLst>
              <a:gd name="adj" fmla="val 33333"/>
            </a:avLst>
          </a:prstGeom>
          <a:solidFill>
            <a:srgbClr val="4CAF82"/>
          </a:solidFill>
          <a:ln/>
        </p:spPr>
      </p:sp>
      <p:sp>
        <p:nvSpPr>
          <p:cNvPr id="47" name="Text 45"/>
          <p:cNvSpPr/>
          <p:nvPr/>
        </p:nvSpPr>
        <p:spPr>
          <a:xfrm>
            <a:off x="6958584" y="40416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4370832"/>
            <a:ext cx="749808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" y="437083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33856" y="4370832"/>
            <a:ext cx="164592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1" name="Text 49"/>
          <p:cNvSpPr/>
          <p:nvPr/>
        </p:nvSpPr>
        <p:spPr>
          <a:xfrm>
            <a:off x="1225296" y="43708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reading than actual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79776" y="4370832"/>
            <a:ext cx="192024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3" name="Text 51"/>
          <p:cNvSpPr/>
          <p:nvPr/>
        </p:nvSpPr>
        <p:spPr>
          <a:xfrm>
            <a:off x="2871216" y="4370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spoofs low pressure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0016" y="4370832"/>
            <a:ext cx="2212848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5" name="Text 53"/>
          <p:cNvSpPr/>
          <p:nvPr/>
        </p:nvSpPr>
        <p:spPr>
          <a:xfrm>
            <a:off x="4791456" y="437083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increases feed → true overpressure → vessel failure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12864" y="4370832"/>
            <a:ext cx="146304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7" name="Shape 55"/>
          <p:cNvSpPr/>
          <p:nvPr/>
        </p:nvSpPr>
        <p:spPr>
          <a:xfrm>
            <a:off x="6912864" y="4443984"/>
            <a:ext cx="1371600" cy="219456"/>
          </a:xfrm>
          <a:prstGeom prst="rect">
            <a:avLst>
              <a:gd name="adj" fmla="val 33333"/>
            </a:avLst>
          </a:prstGeom>
          <a:solidFill>
            <a:srgbClr val="EF5350"/>
          </a:solidFill>
          <a:ln/>
        </p:spPr>
      </p:sp>
      <p:sp>
        <p:nvSpPr>
          <p:cNvPr id="58" name="Text 56"/>
          <p:cNvSpPr/>
          <p:nvPr/>
        </p:nvSpPr>
        <p:spPr>
          <a:xfrm>
            <a:off x="6958584" y="444398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CATASTROPHIC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84048" y="4773168"/>
            <a:ext cx="749808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" y="477316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33856" y="4773168"/>
            <a:ext cx="1645920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2" name="Text 60"/>
          <p:cNvSpPr/>
          <p:nvPr/>
        </p:nvSpPr>
        <p:spPr>
          <a:xfrm>
            <a:off x="1225296" y="4773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direction inverted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79776" y="4773168"/>
            <a:ext cx="1920240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4" name="Text 62"/>
          <p:cNvSpPr/>
          <p:nvPr/>
        </p:nvSpPr>
        <p:spPr>
          <a:xfrm>
            <a:off x="2871216" y="4773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manipulation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0016" y="4773168"/>
            <a:ext cx="2212848" cy="365760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6" name="Text 64"/>
          <p:cNvSpPr/>
          <p:nvPr/>
        </p:nvSpPr>
        <p:spPr>
          <a:xfrm>
            <a:off x="4791456" y="47731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wrong control response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912864" y="4773168"/>
            <a:ext cx="1463040" cy="36576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8" name="Shape 66"/>
          <p:cNvSpPr/>
          <p:nvPr/>
        </p:nvSpPr>
        <p:spPr>
          <a:xfrm>
            <a:off x="6912864" y="4846320"/>
            <a:ext cx="1371600" cy="219456"/>
          </a:xfrm>
          <a:prstGeom prst="rect">
            <a:avLst>
              <a:gd name="adj" fmla="val 33333"/>
            </a:avLst>
          </a:prstGeom>
          <a:solidFill>
            <a:srgbClr val="FFB300"/>
          </a:solidFill>
          <a:ln/>
        </p:spPr>
      </p:sp>
      <p:sp>
        <p:nvSpPr>
          <p:cNvPr id="69" name="Text 67"/>
          <p:cNvSpPr/>
          <p:nvPr/>
        </p:nvSpPr>
        <p:spPr>
          <a:xfrm>
            <a:off x="6958584" y="48463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tells you WHAT the physical consequence is. IEC 62443 matrix then SCORES it. Without HAZOP, consequence scores on safety-critical systems are systematically underestimated.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METHOD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 Threat Modelling — Adversarial Threats on Software-Intensive IACS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· Tampering · Repudiation · Information Disclosure · Denial of Service · Elevation of Privilege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4160520" cy="987552"/>
          </a:xfrm>
          <a:prstGeom prst="rect">
            <a:avLst>
              <a:gd name="adj" fmla="val 740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8.517263604487625e+164" dist="4.2586318022438123e+164" dir="1.804611762743904e+193">
              <a:srgbClr val="000000">
                <a:alpha val="2.5000000000000003e+19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44752"/>
            <a:ext cx="73152" cy="9875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STRIDE excels in 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86537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Systematically enumerates ALL adversarial attack paths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for software-intensive systems: TOS, SCADA, AGV navigation, APIs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V2X communication threats (port terminals, autonomous systems)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supply chain and IT/OT boundary threats natively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1444752"/>
            <a:ext cx="4041648" cy="987552"/>
          </a:xfrm>
          <a:prstGeom prst="rect">
            <a:avLst>
              <a:gd name="adj" fmla="val 740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0816924777699284e+169" dist="5.408462388849642e+168" dir="1.0827670576463424e+198">
              <a:srgbClr val="000000">
                <a:alpha val="2.5000000000000003e+20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444752"/>
            <a:ext cx="73152" cy="9875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53619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 alone is not enough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65376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100–200+ threats for a complex system — no inherent prioritisation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quantify risk — needs IEC 62443 matrix to score findings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address physical consequence chains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software architecture knowledge to execute properly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 Applied: IGV Navigation System at DP World Terminal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852928"/>
            <a:ext cx="1005840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89888" y="2852928"/>
            <a:ext cx="1700784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9" name="Text 17"/>
          <p:cNvSpPr/>
          <p:nvPr/>
        </p:nvSpPr>
        <p:spPr>
          <a:xfrm>
            <a:off x="1481328" y="285292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Scenario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90672" y="2852928"/>
            <a:ext cx="1389888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1" name="Text 19"/>
          <p:cNvSpPr/>
          <p:nvPr/>
        </p:nvSpPr>
        <p:spPr>
          <a:xfrm>
            <a:off x="3182112" y="285292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2852928"/>
            <a:ext cx="1865376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852928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45936" y="2852928"/>
            <a:ext cx="658368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5" name="Text 23"/>
          <p:cNvSpPr/>
          <p:nvPr/>
        </p:nvSpPr>
        <p:spPr>
          <a:xfrm>
            <a:off x="6437376" y="285292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04304" y="2852928"/>
            <a:ext cx="786384" cy="274320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7" name="Text 25"/>
          <p:cNvSpPr/>
          <p:nvPr/>
        </p:nvSpPr>
        <p:spPr>
          <a:xfrm>
            <a:off x="7095744" y="2852928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3163824"/>
            <a:ext cx="1005840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16382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Spoofing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89888" y="3163824"/>
            <a:ext cx="1700784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1" name="Text 29"/>
          <p:cNvSpPr/>
          <p:nvPr/>
        </p:nvSpPr>
        <p:spPr>
          <a:xfrm>
            <a:off x="1481328" y="3163824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V2X beacon broadcasts false position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90672" y="3163824"/>
            <a:ext cx="138988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3" name="Text 31"/>
          <p:cNvSpPr/>
          <p:nvPr/>
        </p:nvSpPr>
        <p:spPr>
          <a:xfrm>
            <a:off x="3182112" y="3163824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on V2X beacons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3163824"/>
            <a:ext cx="1865376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16382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 routes into pedestrian area / off dock edge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45936" y="3163824"/>
            <a:ext cx="65836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7" name="Text 35"/>
          <p:cNvSpPr/>
          <p:nvPr/>
        </p:nvSpPr>
        <p:spPr>
          <a:xfrm>
            <a:off x="6437376" y="316382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L=3 C=4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04304" y="3163824"/>
            <a:ext cx="786384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9" name="Shape 37"/>
          <p:cNvSpPr/>
          <p:nvPr/>
        </p:nvSpPr>
        <p:spPr>
          <a:xfrm>
            <a:off x="7040880" y="3255264"/>
            <a:ext cx="713232" cy="219456"/>
          </a:xfrm>
          <a:prstGeom prst="rect">
            <a:avLst>
              <a:gd name="adj" fmla="val 25000"/>
            </a:avLst>
          </a:prstGeom>
          <a:solidFill>
            <a:srgbClr val="EF5350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3255264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3602736"/>
            <a:ext cx="100584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" y="360273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· Tampering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89888" y="3602736"/>
            <a:ext cx="1700784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4" name="Text 42"/>
          <p:cNvSpPr/>
          <p:nvPr/>
        </p:nvSpPr>
        <p:spPr>
          <a:xfrm>
            <a:off x="1481328" y="3602736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on Wi-Fi injects false 'obstacle clear'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90672" y="3602736"/>
            <a:ext cx="138988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3602736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V2X, no integrity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80560" y="3602736"/>
            <a:ext cx="1865376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0" y="360273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 ignores real obstacle → collision with worker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45936" y="3602736"/>
            <a:ext cx="65836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0" name="Text 48"/>
          <p:cNvSpPr/>
          <p:nvPr/>
        </p:nvSpPr>
        <p:spPr>
          <a:xfrm>
            <a:off x="6437376" y="360273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L=2 C=4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04304" y="3602736"/>
            <a:ext cx="786384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2" name="Shape 50"/>
          <p:cNvSpPr/>
          <p:nvPr/>
        </p:nvSpPr>
        <p:spPr>
          <a:xfrm>
            <a:off x="7040880" y="3694176"/>
            <a:ext cx="713232" cy="219456"/>
          </a:xfrm>
          <a:prstGeom prst="rect">
            <a:avLst>
              <a:gd name="adj" fmla="val 25000"/>
            </a:avLst>
          </a:prstGeom>
          <a:solidFill>
            <a:srgbClr val="FFB300"/>
          </a:solidFill>
          <a:ln/>
        </p:spPr>
      </p:sp>
      <p:sp>
        <p:nvSpPr>
          <p:cNvPr id="53" name="Text 51"/>
          <p:cNvSpPr/>
          <p:nvPr/>
        </p:nvSpPr>
        <p:spPr>
          <a:xfrm>
            <a:off x="7040880" y="3694176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4041648"/>
            <a:ext cx="1005840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" y="404164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Denial of Service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389888" y="4041648"/>
            <a:ext cx="1700784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7" name="Text 55"/>
          <p:cNvSpPr/>
          <p:nvPr/>
        </p:nvSpPr>
        <p:spPr>
          <a:xfrm>
            <a:off x="1481328" y="4041648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deauth floods all IGV beacons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090672" y="4041648"/>
            <a:ext cx="138988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9" name="Text 57"/>
          <p:cNvSpPr/>
          <p:nvPr/>
        </p:nvSpPr>
        <p:spPr>
          <a:xfrm>
            <a:off x="3182112" y="404164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Wi-Fi vulnerability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80560" y="4041648"/>
            <a:ext cx="1865376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0" y="404164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IGVs emergency-stop → terminal halt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45936" y="4041648"/>
            <a:ext cx="658368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3" name="Text 61"/>
          <p:cNvSpPr/>
          <p:nvPr/>
        </p:nvSpPr>
        <p:spPr>
          <a:xfrm>
            <a:off x="6437376" y="404164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L=4 C=3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04304" y="4041648"/>
            <a:ext cx="786384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5" name="Shape 63"/>
          <p:cNvSpPr/>
          <p:nvPr/>
        </p:nvSpPr>
        <p:spPr>
          <a:xfrm>
            <a:off x="7040880" y="4133088"/>
            <a:ext cx="713232" cy="219456"/>
          </a:xfrm>
          <a:prstGeom prst="rect">
            <a:avLst>
              <a:gd name="adj" fmla="val 25000"/>
            </a:avLst>
          </a:prstGeom>
          <a:solidFill>
            <a:srgbClr val="EF5350"/>
          </a:solidFill>
          <a:ln/>
        </p:spPr>
      </p:sp>
      <p:sp>
        <p:nvSpPr>
          <p:cNvPr id="66" name="Text 64"/>
          <p:cNvSpPr/>
          <p:nvPr/>
        </p:nvSpPr>
        <p:spPr>
          <a:xfrm>
            <a:off x="7040880" y="413308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84048" y="4480560"/>
            <a:ext cx="100584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8" name="Text 66"/>
          <p:cNvSpPr/>
          <p:nvPr/>
        </p:nvSpPr>
        <p:spPr>
          <a:xfrm>
            <a:off x="475488" y="448056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Elev. Privilege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389888" y="4480560"/>
            <a:ext cx="1700784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70" name="Text 68"/>
          <p:cNvSpPr/>
          <p:nvPr/>
        </p:nvSpPr>
        <p:spPr>
          <a:xfrm>
            <a:off x="1481328" y="4480560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account escalates to fleet control API admin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090672" y="4480560"/>
            <a:ext cx="138988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72" name="Text 70"/>
          <p:cNvSpPr/>
          <p:nvPr/>
        </p:nvSpPr>
        <p:spPr>
          <a:xfrm>
            <a:off x="3182112" y="4480560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API credentials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480560" y="4480560"/>
            <a:ext cx="1865376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0" y="448056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commands vehicles directly — bypasses safety zones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45936" y="4480560"/>
            <a:ext cx="658368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76" name="Text 74"/>
          <p:cNvSpPr/>
          <p:nvPr/>
        </p:nvSpPr>
        <p:spPr>
          <a:xfrm>
            <a:off x="6437376" y="4480560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L=3 C=4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004304" y="4480560"/>
            <a:ext cx="786384" cy="402336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8" name="Shape 76"/>
          <p:cNvSpPr/>
          <p:nvPr/>
        </p:nvSpPr>
        <p:spPr>
          <a:xfrm>
            <a:off x="7040880" y="4572000"/>
            <a:ext cx="713232" cy="219456"/>
          </a:xfrm>
          <a:prstGeom prst="rect">
            <a:avLst>
              <a:gd name="adj" fmla="val 25000"/>
            </a:avLst>
          </a:prstGeom>
          <a:solidFill>
            <a:srgbClr val="EF5350"/>
          </a:solidFill>
          <a:ln/>
        </p:spPr>
      </p:sp>
      <p:sp>
        <p:nvSpPr>
          <p:cNvPr id="79" name="Text 77"/>
          <p:cNvSpPr/>
          <p:nvPr/>
        </p:nvSpPr>
        <p:spPr>
          <a:xfrm>
            <a:off x="7040880" y="4572000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is the input engine. IEC 62443 matrix is the scoring engine. Three CRITICAL findings drive SL-T 3 for the entire IGV zone — a significantly higher standard than most port operators currently implement.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7C6BF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METHOD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Bow-Tie Analysis — Bridge Between Cyber Risk and Physical Safety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threats → top event → consequences, showing prevention and recovery barriers — the executive communication tool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2011680" cy="438912"/>
          </a:xfrm>
          <a:prstGeom prst="rect">
            <a:avLst>
              <a:gd name="adj" fmla="val 12500"/>
            </a:avLst>
          </a:prstGeom>
          <a:solidFill>
            <a:srgbClr val="200808"/>
          </a:solidFill>
          <a:ln/>
          <a:effectLst>
            <a:outerShdw sx="100000" sy="100000" kx="0" ky="0" algn="bl" rotWithShape="0" blurRad="1.3737494467678092e+173" dist="6.868747233839046e+172" dir="6.496602345878055e+202">
              <a:srgbClr val="000000">
                <a:alpha val="2.5000000000000002e+20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572768"/>
            <a:ext cx="54864" cy="43891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57276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attacker via DMZ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084832"/>
            <a:ext cx="2011680" cy="438912"/>
          </a:xfrm>
          <a:prstGeom prst="rect">
            <a:avLst>
              <a:gd name="adj" fmla="val 12500"/>
            </a:avLst>
          </a:prstGeom>
          <a:solidFill>
            <a:srgbClr val="200808"/>
          </a:solidFill>
          <a:ln/>
          <a:effectLst>
            <a:outerShdw sx="100000" sy="100000" kx="0" ky="0" algn="bl" rotWithShape="0" blurRad="1.7446617973951177e+177" dist="8.723308986975589e+176" dir="3.897961407526833e+207">
              <a:srgbClr val="000000">
                <a:alpha val="2.5000000000000002e+21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084832"/>
            <a:ext cx="54864" cy="43891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084832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insider — OT engineer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596896"/>
            <a:ext cx="2011680" cy="438912"/>
          </a:xfrm>
          <a:prstGeom prst="rect">
            <a:avLst>
              <a:gd name="adj" fmla="val 12500"/>
            </a:avLst>
          </a:prstGeom>
          <a:solidFill>
            <a:srgbClr val="200808"/>
          </a:solidFill>
          <a:ln/>
          <a:effectLst>
            <a:outerShdw sx="100000" sy="100000" kx="0" ky="0" algn="bl" rotWithShape="0" blurRad="2.2157204826917993e+181" dist="1.1078602413458997e+181" dir="2.3387768445161e+212">
              <a:srgbClr val="000000">
                <a:alpha val="2.5000000000000003e+21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596896"/>
            <a:ext cx="54864" cy="43891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2596896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vendor remote access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05456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Barriers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23744" y="1664208"/>
            <a:ext cx="1719072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16642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DMZ Firewall + IDS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23744" y="2103120"/>
            <a:ext cx="1719072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20" name="Text 18"/>
          <p:cNvSpPr/>
          <p:nvPr/>
        </p:nvSpPr>
        <p:spPr>
          <a:xfrm>
            <a:off x="2578608" y="210312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MFA on DCS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23744" y="2542032"/>
            <a:ext cx="1719072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22" name="Text 20"/>
          <p:cNvSpPr/>
          <p:nvPr/>
        </p:nvSpPr>
        <p:spPr>
          <a:xfrm>
            <a:off x="2578608" y="254203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Change Mgmt (partial)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23744" y="2980944"/>
            <a:ext cx="1719072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24" name="Text 22"/>
          <p:cNvSpPr/>
          <p:nvPr/>
        </p:nvSpPr>
        <p:spPr>
          <a:xfrm>
            <a:off x="2578608" y="298094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Vendor monitoring MISSING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70832" y="1664208"/>
            <a:ext cx="1389888" cy="1627632"/>
          </a:xfrm>
          <a:prstGeom prst="rect">
            <a:avLst>
              <a:gd name="adj" fmla="val 6579"/>
            </a:avLst>
          </a:prstGeom>
          <a:solidFill>
            <a:srgbClr val="200818"/>
          </a:solidFill>
          <a:ln/>
          <a:effectLst>
            <a:outerShdw sx="100000" sy="100000" kx="0" ky="0" algn="bl" rotWithShape="0" blurRad="2.813965013018585e+185" dist="1.4069825065092926e+185" dir="1.40326610670966e+217">
              <a:srgbClr val="000000">
                <a:alpha val="2.5000000000000002e+22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70832" y="1664208"/>
            <a:ext cx="1389888" cy="73152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370832" y="177393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EVENT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07408" y="2011680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DCS Setpoint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Manipulation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0" y="228600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7A96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42432" y="228600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7A96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35040" y="1572768"/>
            <a:ext cx="2011680" cy="438912"/>
          </a:xfrm>
          <a:prstGeom prst="rect">
            <a:avLst>
              <a:gd name="adj" fmla="val 12500"/>
            </a:avLst>
          </a:prstGeom>
          <a:solidFill>
            <a:srgbClr val="200808"/>
          </a:solidFill>
          <a:ln/>
          <a:effectLst>
            <a:outerShdw sx="100000" sy="100000" kx="0" ky="0" algn="bl" rotWithShape="0" blurRad="3.5737355665336036e+189" dist="1.7868677832668018e+189" dir="8.41959664025796e+221">
              <a:srgbClr val="000000">
                <a:alpha val="2.5e+22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91856" y="1572768"/>
            <a:ext cx="54864" cy="43891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3" name="Text 31"/>
          <p:cNvSpPr/>
          <p:nvPr/>
        </p:nvSpPr>
        <p:spPr>
          <a:xfrm>
            <a:off x="6089904" y="157276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overpressure → PSV lift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084832"/>
            <a:ext cx="2011680" cy="438912"/>
          </a:xfrm>
          <a:prstGeom prst="rect">
            <a:avLst>
              <a:gd name="adj" fmla="val 12500"/>
            </a:avLst>
          </a:prstGeom>
          <a:solidFill>
            <a:srgbClr val="200808"/>
          </a:solidFill>
          <a:ln/>
          <a:effectLst>
            <a:outerShdw sx="100000" sy="100000" kx="0" ky="0" algn="bl" rotWithShape="0" blurRad="4.5386441694976765e+193" dist="2.2693220847488382e+193" dir="5.051757984154776e+226">
              <a:srgbClr val="000000">
                <a:alpha val="2.5e+234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91856" y="2084832"/>
            <a:ext cx="54864" cy="43891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6" name="Text 34"/>
          <p:cNvSpPr/>
          <p:nvPr/>
        </p:nvSpPr>
        <p:spPr>
          <a:xfrm>
            <a:off x="6089904" y="2084832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containment → fire/explosion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2596896"/>
            <a:ext cx="2011680" cy="438912"/>
          </a:xfrm>
          <a:prstGeom prst="rect">
            <a:avLst>
              <a:gd name="adj" fmla="val 12500"/>
            </a:avLst>
          </a:prstGeom>
          <a:solidFill>
            <a:srgbClr val="200808"/>
          </a:solidFill>
          <a:ln/>
          <a:effectLst>
            <a:outerShdw sx="100000" sy="100000" kx="0" ky="0" algn="bl" rotWithShape="0" blurRad="5.764078095262049e+197" dist="2.8820390476310245e+197" dir="3.0310547904928656e+231">
              <a:srgbClr val="000000">
                <a:alpha val="2.5e+239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991856" y="2596896"/>
            <a:ext cx="54864" cy="43891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9" name="Text 37"/>
          <p:cNvSpPr/>
          <p:nvPr/>
        </p:nvSpPr>
        <p:spPr>
          <a:xfrm>
            <a:off x="6089904" y="2596896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injury / fatality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101584" y="142646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Barriers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101584" y="1664208"/>
            <a:ext cx="658368" cy="438912"/>
          </a:xfrm>
          <a:prstGeom prst="rect">
            <a:avLst>
              <a:gd name="adj" fmla="val 10417"/>
            </a:avLst>
          </a:prstGeom>
          <a:solidFill>
            <a:srgbClr val="162845"/>
          </a:solidFill>
          <a:ln/>
        </p:spPr>
      </p:sp>
      <p:sp>
        <p:nvSpPr>
          <p:cNvPr id="42" name="Text 40"/>
          <p:cNvSpPr/>
          <p:nvPr/>
        </p:nvSpPr>
        <p:spPr>
          <a:xfrm>
            <a:off x="8101584" y="166420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SIS/ESD (independent)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101584" y="2176272"/>
            <a:ext cx="658368" cy="438912"/>
          </a:xfrm>
          <a:prstGeom prst="rect">
            <a:avLst>
              <a:gd name="adj" fmla="val 10417"/>
            </a:avLst>
          </a:prstGeom>
          <a:solidFill>
            <a:srgbClr val="162845"/>
          </a:solidFill>
          <a:ln/>
        </p:spPr>
      </p:sp>
      <p:sp>
        <p:nvSpPr>
          <p:cNvPr id="44" name="Text 42"/>
          <p:cNvSpPr/>
          <p:nvPr/>
        </p:nvSpPr>
        <p:spPr>
          <a:xfrm>
            <a:off x="8101584" y="217627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Safety Valve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101584" y="2688336"/>
            <a:ext cx="658368" cy="438912"/>
          </a:xfrm>
          <a:prstGeom prst="rect">
            <a:avLst>
              <a:gd name="adj" fmla="val 10417"/>
            </a:avLst>
          </a:prstGeom>
          <a:solidFill>
            <a:srgbClr val="162845"/>
          </a:solidFill>
          <a:ln/>
        </p:spPr>
      </p:sp>
      <p:sp>
        <p:nvSpPr>
          <p:cNvPr id="46" name="Text 44"/>
          <p:cNvSpPr/>
          <p:nvPr/>
        </p:nvSpPr>
        <p:spPr>
          <a:xfrm>
            <a:off x="8101584" y="268833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response procedure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4048" y="3493008"/>
            <a:ext cx="4160520" cy="749808"/>
          </a:xfrm>
          <a:prstGeom prst="rect">
            <a:avLst>
              <a:gd name="adj" fmla="val 9756"/>
            </a:avLst>
          </a:prstGeom>
          <a:solidFill>
            <a:srgbClr val="112035"/>
          </a:solidFill>
          <a:ln/>
          <a:effectLst>
            <a:outerShdw sx="100000" sy="100000" kx="0" ky="0" algn="bl" rotWithShape="0" blurRad="7.320379180982803e+201" dist="3.6601895904914013e+201" dir="1.8186328742957194e+236">
              <a:srgbClr val="000000">
                <a:alpha val="2.5e+244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84048" y="3493008"/>
            <a:ext cx="73152" cy="74980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9" name="Text 47"/>
          <p:cNvSpPr/>
          <p:nvPr/>
        </p:nvSpPr>
        <p:spPr>
          <a:xfrm>
            <a:off x="566928" y="356616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Identified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66928" y="3895344"/>
            <a:ext cx="386791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access monitoring is MISSING as a prevention barrier. An attacker using a compromised vendor account has NO prevention control between them and DCS manipulation. This is the Priority 1 finding for the board.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36592" y="3493008"/>
            <a:ext cx="4041648" cy="749808"/>
          </a:xfrm>
          <a:prstGeom prst="rect">
            <a:avLst>
              <a:gd name="adj" fmla="val 9756"/>
            </a:avLst>
          </a:prstGeom>
          <a:solidFill>
            <a:srgbClr val="112035"/>
          </a:solidFill>
          <a:ln/>
          <a:effectLst>
            <a:outerShdw sx="100000" sy="100000" kx="0" ky="0" algn="bl" rotWithShape="0" blurRad="9.296881559848159e+205" dist="4.648440779924079e+205" dir="1.0911797245774316e+241">
              <a:srgbClr val="000000">
                <a:alpha val="2.5000000000000002e+249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36592" y="3493008"/>
            <a:ext cx="73152" cy="7498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3" name="Text 51"/>
          <p:cNvSpPr/>
          <p:nvPr/>
        </p:nvSpPr>
        <p:spPr>
          <a:xfrm>
            <a:off x="4919472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Communication Value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919472" y="38953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presents: three threats, four prevention barriers (one missing), the top event, and three recovery barriers — on one page. Operations, HSE, and the board can understand it without cyber expertise.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84048" y="4407408"/>
            <a:ext cx="8375904" cy="566928"/>
          </a:xfrm>
          <a:prstGeom prst="rect">
            <a:avLst>
              <a:gd name="adj" fmla="val 1290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1807039581007161e+210" dist="5.9035197905035806e+209" dir="6.54707834746459e+245">
              <a:srgbClr val="000000">
                <a:alpha val="2.5e+254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" y="4407408"/>
            <a:ext cx="73152" cy="566928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7" name="Text 55"/>
          <p:cNvSpPr/>
          <p:nvPr/>
        </p:nvSpPr>
        <p:spPr>
          <a:xfrm>
            <a:off x="566928" y="4498848"/>
            <a:ext cx="8101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Bow-Tie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6928" y="4828032"/>
            <a:ext cx="8101584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(1) The 3–5 highest-consequence scenarios from your IEC 62443 risk register (2) When presenting risk to HSE or executive audiences (3) When integrating cyber risk into the existing process safety bow-tie portfolio. Do NOT use it as the primary risk identification or scoring tool.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is the COMMUNICATION tool, not the assessment tool. You need HAZOP and IEC 62443 matrix to populate it with accurate barriers and consequences.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4CAF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METHOD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SP 800-30/82 — The Bridging Method for IT/OT Convergence Zones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client already has a NIST programme and needs it to extend into OT — use this alongside IEC 62443, not instead of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4160520" cy="1389888"/>
          </a:xfrm>
          <a:prstGeom prst="rect">
            <a:avLst>
              <a:gd name="adj" fmla="val 526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4994940267879094e+214" dist="7.497470133939547e+213" dir="3.928247008478754e+250">
              <a:srgbClr val="000000">
                <a:alpha val="2.4999999999999998e+2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44752"/>
            <a:ext cx="73152" cy="1389888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NIST 800-82 adds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865376"/>
            <a:ext cx="38862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 800-82 (ICS Guide) is specifically adapted for SCADA, DCS, and PLC environments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organisations with existing NIST CSF/RMF programmes extending into 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Connects IT and OT risk registers in a common language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SCADA/historian systems at the IT/OT boundary well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risk management is particularly well addressed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1444752"/>
            <a:ext cx="4041648" cy="1389888"/>
          </a:xfrm>
          <a:prstGeom prst="rect">
            <a:avLst>
              <a:gd name="adj" fmla="val 5263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904357414020645e+218" dist="9.521787070103225e+217" dir="2.3569482050872525e+255">
              <a:srgbClr val="000000">
                <a:alpha val="2.4999999999999997e+26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444752"/>
            <a:ext cx="73152" cy="138988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53619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is not OT-primary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65376"/>
            <a:ext cx="376732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SL-T output — this is a critical gap against IEC 62443-2-1 CSMS requirements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and safety consequence analysis weaker than HAZOP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accepted by process safety engineers who implement OT controls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significant adaptation for real-time IACS timing constraints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language is unfamiliar to operations and control system engineers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NIST 800-82: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4048" y="3273552"/>
            <a:ext cx="2724912" cy="1719072"/>
          </a:xfrm>
          <a:prstGeom prst="rect">
            <a:avLst>
              <a:gd name="adj" fmla="val 4255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4185339158062192e+222" dist="1.2092669579031096e+222" dir="1.4141689230523514e+260">
              <a:srgbClr val="000000">
                <a:alpha val="2.4999999999999998e+26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273552"/>
            <a:ext cx="73152" cy="171907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649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Manufacturing/Industry 4.0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694176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has existing NIST CSF. OT systems are new additions. NIST 800-82 bridges the gap while IEC 62443 matrix produces the SL-T for OT zones.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55264" y="3273552"/>
            <a:ext cx="2724912" cy="1719072"/>
          </a:xfrm>
          <a:prstGeom prst="rect">
            <a:avLst>
              <a:gd name="adj" fmla="val 4255"/>
            </a:avLst>
          </a:prstGeom>
          <a:solidFill>
            <a:srgbClr val="162845"/>
          </a:solidFill>
          <a:ln/>
          <a:effectLst>
            <a:outerShdw sx="100000" sy="100000" kx="0" ky="0" algn="bl" rotWithShape="0" blurRad="3.0715380730738986e+226" dist="1.5357690365369493e+226" dir="8.485013538314108e+264">
              <a:srgbClr val="000000">
                <a:alpha val="2.5e+27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55264" y="3273552"/>
            <a:ext cx="73152" cy="171907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2" name="Text 20"/>
          <p:cNvSpPr/>
          <p:nvPr/>
        </p:nvSpPr>
        <p:spPr>
          <a:xfrm>
            <a:off x="3438144" y="33649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Infrastructure (US)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8144" y="3694176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guidance references NIST CSF. NIST 800-82 maps to NERC CIP requirements. Use alongside IEC 62443 matrix for the technical SL-T scoring.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273552"/>
            <a:ext cx="2724912" cy="1719072"/>
          </a:xfrm>
          <a:prstGeom prst="rect">
            <a:avLst>
              <a:gd name="adj" fmla="val 4255"/>
            </a:avLst>
          </a:prstGeom>
          <a:solidFill>
            <a:srgbClr val="162845"/>
          </a:solidFill>
          <a:ln/>
          <a:effectLst>
            <a:outerShdw sx="100000" sy="100000" kx="0" ky="0" algn="bl" rotWithShape="0" blurRad="3.900853352803852e+230" dist="1.950426676401926e+230" dir="5.091008122988465e+269">
              <a:srgbClr val="000000">
                <a:alpha val="2.5e+27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273552"/>
            <a:ext cx="73152" cy="171907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3649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IT/OT boundary systems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694176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historians, data diodes, historians, remote access systems. These sit between IT and OT — NIST 800-82 captures both risk dimensions.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4645152"/>
            <a:ext cx="8375904" cy="347472"/>
          </a:xfrm>
          <a:prstGeom prst="rect">
            <a:avLst>
              <a:gd name="adj" fmla="val 21053"/>
            </a:avLst>
          </a:prstGeom>
          <a:solidFill>
            <a:srgbClr val="112035"/>
          </a:solidFill>
          <a:ln/>
          <a:effectLst>
            <a:outerShdw sx="100000" sy="100000" kx="0" ky="0" algn="bl" rotWithShape="0" blurRad="4.9540837580608916e+234" dist="2.4770418790304458e+234" dir="3.054604873793079e+274">
              <a:srgbClr val="000000">
                <a:alpha val="2.5e+28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645152"/>
            <a:ext cx="73152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718304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047488"/>
            <a:ext cx="808329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NIST 800-82 INSTEAD of IEC 62443 risk matrix in a CSMS context. Use it as a supplementary lens for IT/OT boundary systems. The SL-T must come from IEC 62443.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800-82 reference: https://nvlpubs.nist.gov/nistpubs/SpecialPublications/NIST.SP.800-82r3.pdf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B300">
                    <a:alpha val="2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Matrix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281635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select the right methodology — or combination — for any IACS system you encounter. The scoring framework, industry combinations, and CSMS-RA-001 documentation.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· DECISION MATRIX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Methodology Decision Matrix — Score by System Type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methodology scored 1–5 per system type. Bold = recommended primary. Italic = useful supporting. Blank = limited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164592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813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9968" y="1481328"/>
            <a:ext cx="1207008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" name="Text 8"/>
          <p:cNvSpPr/>
          <p:nvPr/>
        </p:nvSpPr>
        <p:spPr>
          <a:xfrm>
            <a:off x="2121408" y="148132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36976" y="1481328"/>
            <a:ext cx="1207008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48132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HAZOP/LOPA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43984" y="1481328"/>
            <a:ext cx="1207008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148132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50992" y="1481328"/>
            <a:ext cx="1207008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6" name="Text 14"/>
          <p:cNvSpPr/>
          <p:nvPr/>
        </p:nvSpPr>
        <p:spPr>
          <a:xfrm>
            <a:off x="5742432" y="148132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Bow-Tie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481328"/>
            <a:ext cx="1207008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48132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800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65008" y="1481328"/>
            <a:ext cx="713232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0" name="Text 18"/>
          <p:cNvSpPr/>
          <p:nvPr/>
        </p:nvSpPr>
        <p:spPr>
          <a:xfrm>
            <a:off x="8156448" y="1481328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SL-T?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1810512"/>
            <a:ext cx="16459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18105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systems (SIS/ESD)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29968" y="1810512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4" name="Text 22"/>
          <p:cNvSpPr/>
          <p:nvPr/>
        </p:nvSpPr>
        <p:spPr>
          <a:xfrm>
            <a:off x="2121408" y="181051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36976" y="1810512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181051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43984" y="1810512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181051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50992" y="1810512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0" name="Text 28"/>
          <p:cNvSpPr/>
          <p:nvPr/>
        </p:nvSpPr>
        <p:spPr>
          <a:xfrm>
            <a:off x="5742432" y="181051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810512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181051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65008" y="1810512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4" name="Text 32"/>
          <p:cNvSpPr/>
          <p:nvPr/>
        </p:nvSpPr>
        <p:spPr>
          <a:xfrm>
            <a:off x="8156448" y="1810512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29968" y="1810512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36" name="Text 34"/>
          <p:cNvSpPr/>
          <p:nvPr/>
        </p:nvSpPr>
        <p:spPr>
          <a:xfrm>
            <a:off x="2029968" y="18105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36976" y="1810512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38" name="Text 36"/>
          <p:cNvSpPr/>
          <p:nvPr/>
        </p:nvSpPr>
        <p:spPr>
          <a:xfrm>
            <a:off x="3236976" y="18105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65008" y="1810512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0" name="Text 38"/>
          <p:cNvSpPr/>
          <p:nvPr/>
        </p:nvSpPr>
        <p:spPr>
          <a:xfrm>
            <a:off x="8065008" y="1810512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4048" y="2157984"/>
            <a:ext cx="16459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" y="21579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/ PLC / RTU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29968" y="2157984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4" name="Text 42"/>
          <p:cNvSpPr/>
          <p:nvPr/>
        </p:nvSpPr>
        <p:spPr>
          <a:xfrm>
            <a:off x="2121408" y="21579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36976" y="2157984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6" name="Text 44"/>
          <p:cNvSpPr/>
          <p:nvPr/>
        </p:nvSpPr>
        <p:spPr>
          <a:xfrm>
            <a:off x="3328416" y="21579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3984" y="2157984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8" name="Text 46"/>
          <p:cNvSpPr/>
          <p:nvPr/>
        </p:nvSpPr>
        <p:spPr>
          <a:xfrm>
            <a:off x="4535424" y="21579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50992" y="2157984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0" name="Text 48"/>
          <p:cNvSpPr/>
          <p:nvPr/>
        </p:nvSpPr>
        <p:spPr>
          <a:xfrm>
            <a:off x="5742432" y="21579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2157984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21579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65008" y="2157984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4" name="Text 52"/>
          <p:cNvSpPr/>
          <p:nvPr/>
        </p:nvSpPr>
        <p:spPr>
          <a:xfrm>
            <a:off x="8156448" y="2157984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029968" y="2157984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56" name="Text 54"/>
          <p:cNvSpPr/>
          <p:nvPr/>
        </p:nvSpPr>
        <p:spPr>
          <a:xfrm>
            <a:off x="2029968" y="21579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65008" y="2157984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8" name="Text 56"/>
          <p:cNvSpPr/>
          <p:nvPr/>
        </p:nvSpPr>
        <p:spPr>
          <a:xfrm>
            <a:off x="8065008" y="2157984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84048" y="2505456"/>
            <a:ext cx="16459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" y="25054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Historian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029968" y="2505456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2" name="Text 60"/>
          <p:cNvSpPr/>
          <p:nvPr/>
        </p:nvSpPr>
        <p:spPr>
          <a:xfrm>
            <a:off x="2121408" y="250545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36976" y="2505456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4" name="Text 62"/>
          <p:cNvSpPr/>
          <p:nvPr/>
        </p:nvSpPr>
        <p:spPr>
          <a:xfrm>
            <a:off x="3328416" y="250545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443984" y="2505456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6" name="Text 64"/>
          <p:cNvSpPr/>
          <p:nvPr/>
        </p:nvSpPr>
        <p:spPr>
          <a:xfrm>
            <a:off x="4535424" y="250545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50992" y="2505456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8" name="Text 66"/>
          <p:cNvSpPr/>
          <p:nvPr/>
        </p:nvSpPr>
        <p:spPr>
          <a:xfrm>
            <a:off x="5742432" y="250545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858000" y="2505456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0" name="Text 68"/>
          <p:cNvSpPr/>
          <p:nvPr/>
        </p:nvSpPr>
        <p:spPr>
          <a:xfrm>
            <a:off x="6949440" y="250545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065008" y="2505456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2" name="Text 70"/>
          <p:cNvSpPr/>
          <p:nvPr/>
        </p:nvSpPr>
        <p:spPr>
          <a:xfrm>
            <a:off x="8156448" y="2505456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029968" y="2505456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74" name="Text 72"/>
          <p:cNvSpPr/>
          <p:nvPr/>
        </p:nvSpPr>
        <p:spPr>
          <a:xfrm>
            <a:off x="2029968" y="2505456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443984" y="2505456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76" name="Text 74"/>
          <p:cNvSpPr/>
          <p:nvPr/>
        </p:nvSpPr>
        <p:spPr>
          <a:xfrm>
            <a:off x="4443984" y="2505456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65008" y="2505456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8" name="Text 76"/>
          <p:cNvSpPr/>
          <p:nvPr/>
        </p:nvSpPr>
        <p:spPr>
          <a:xfrm>
            <a:off x="8065008" y="2505456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84048" y="2852928"/>
            <a:ext cx="16459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0" name="Text 78"/>
          <p:cNvSpPr/>
          <p:nvPr/>
        </p:nvSpPr>
        <p:spPr>
          <a:xfrm>
            <a:off x="475488" y="28529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network &amp; zones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029968" y="2852928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2" name="Text 80"/>
          <p:cNvSpPr/>
          <p:nvPr/>
        </p:nvSpPr>
        <p:spPr>
          <a:xfrm>
            <a:off x="2121408" y="285292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36976" y="2852928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4" name="Text 82"/>
          <p:cNvSpPr/>
          <p:nvPr/>
        </p:nvSpPr>
        <p:spPr>
          <a:xfrm>
            <a:off x="3328416" y="285292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443984" y="2852928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6" name="Text 84"/>
          <p:cNvSpPr/>
          <p:nvPr/>
        </p:nvSpPr>
        <p:spPr>
          <a:xfrm>
            <a:off x="4535424" y="285292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650992" y="2852928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8" name="Text 86"/>
          <p:cNvSpPr/>
          <p:nvPr/>
        </p:nvSpPr>
        <p:spPr>
          <a:xfrm>
            <a:off x="5742432" y="285292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858000" y="2852928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90" name="Text 88"/>
          <p:cNvSpPr/>
          <p:nvPr/>
        </p:nvSpPr>
        <p:spPr>
          <a:xfrm>
            <a:off x="6949440" y="285292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065008" y="2852928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92" name="Text 90"/>
          <p:cNvSpPr/>
          <p:nvPr/>
        </p:nvSpPr>
        <p:spPr>
          <a:xfrm>
            <a:off x="8156448" y="2852928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029968" y="2852928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94" name="Text 92"/>
          <p:cNvSpPr/>
          <p:nvPr/>
        </p:nvSpPr>
        <p:spPr>
          <a:xfrm>
            <a:off x="2029968" y="285292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065008" y="2852928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96" name="Text 94"/>
          <p:cNvSpPr/>
          <p:nvPr/>
        </p:nvSpPr>
        <p:spPr>
          <a:xfrm>
            <a:off x="8065008" y="2852928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84048" y="3200400"/>
            <a:ext cx="16459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8" name="Text 96"/>
          <p:cNvSpPr/>
          <p:nvPr/>
        </p:nvSpPr>
        <p:spPr>
          <a:xfrm>
            <a:off x="475488" y="32004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/ IGV / Autonomous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029968" y="3200400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0" name="Text 98"/>
          <p:cNvSpPr/>
          <p:nvPr/>
        </p:nvSpPr>
        <p:spPr>
          <a:xfrm>
            <a:off x="2121408" y="3200400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236976" y="3200400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2" name="Text 100"/>
          <p:cNvSpPr/>
          <p:nvPr/>
        </p:nvSpPr>
        <p:spPr>
          <a:xfrm>
            <a:off x="3328416" y="3200400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4443984" y="3200400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4" name="Text 102"/>
          <p:cNvSpPr/>
          <p:nvPr/>
        </p:nvSpPr>
        <p:spPr>
          <a:xfrm>
            <a:off x="4535424" y="3200400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5650992" y="3200400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6" name="Text 104"/>
          <p:cNvSpPr/>
          <p:nvPr/>
        </p:nvSpPr>
        <p:spPr>
          <a:xfrm>
            <a:off x="5742432" y="3200400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6858000" y="3200400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8" name="Text 106"/>
          <p:cNvSpPr/>
          <p:nvPr/>
        </p:nvSpPr>
        <p:spPr>
          <a:xfrm>
            <a:off x="6949440" y="3200400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065008" y="3200400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10" name="Text 108"/>
          <p:cNvSpPr/>
          <p:nvPr/>
        </p:nvSpPr>
        <p:spPr>
          <a:xfrm>
            <a:off x="8156448" y="320040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443984" y="3200400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112" name="Text 110"/>
          <p:cNvSpPr/>
          <p:nvPr/>
        </p:nvSpPr>
        <p:spPr>
          <a:xfrm>
            <a:off x="4443984" y="320040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8065008" y="3200400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14" name="Text 112"/>
          <p:cNvSpPr/>
          <p:nvPr/>
        </p:nvSpPr>
        <p:spPr>
          <a:xfrm>
            <a:off x="8065008" y="3200400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84048" y="3547872"/>
            <a:ext cx="16459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" y="35478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/ Software-intensive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2029968" y="3547872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18" name="Text 116"/>
          <p:cNvSpPr/>
          <p:nvPr/>
        </p:nvSpPr>
        <p:spPr>
          <a:xfrm>
            <a:off x="2121408" y="354787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3236976" y="3547872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20" name="Text 118"/>
          <p:cNvSpPr/>
          <p:nvPr/>
        </p:nvSpPr>
        <p:spPr>
          <a:xfrm>
            <a:off x="3328416" y="354787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4443984" y="3547872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22" name="Text 120"/>
          <p:cNvSpPr/>
          <p:nvPr/>
        </p:nvSpPr>
        <p:spPr>
          <a:xfrm>
            <a:off x="4535424" y="354787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5650992" y="3547872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24" name="Text 122"/>
          <p:cNvSpPr/>
          <p:nvPr/>
        </p:nvSpPr>
        <p:spPr>
          <a:xfrm>
            <a:off x="5742432" y="354787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858000" y="3547872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26" name="Text 124"/>
          <p:cNvSpPr/>
          <p:nvPr/>
        </p:nvSpPr>
        <p:spPr>
          <a:xfrm>
            <a:off x="6949440" y="354787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8065008" y="3547872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28" name="Text 126"/>
          <p:cNvSpPr/>
          <p:nvPr/>
        </p:nvSpPr>
        <p:spPr>
          <a:xfrm>
            <a:off x="8156448" y="3547872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4443984" y="3547872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130" name="Text 128"/>
          <p:cNvSpPr/>
          <p:nvPr/>
        </p:nvSpPr>
        <p:spPr>
          <a:xfrm>
            <a:off x="4443984" y="354787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8065008" y="3547872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32" name="Text 130"/>
          <p:cNvSpPr/>
          <p:nvPr/>
        </p:nvSpPr>
        <p:spPr>
          <a:xfrm>
            <a:off x="8065008" y="3547872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84048" y="3895344"/>
            <a:ext cx="16459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34" name="Text 132"/>
          <p:cNvSpPr/>
          <p:nvPr/>
        </p:nvSpPr>
        <p:spPr>
          <a:xfrm>
            <a:off x="475488" y="38953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HSE consequence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2029968" y="3895344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36" name="Text 134"/>
          <p:cNvSpPr/>
          <p:nvPr/>
        </p:nvSpPr>
        <p:spPr>
          <a:xfrm>
            <a:off x="2121408" y="389534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3236976" y="3895344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38" name="Text 136"/>
          <p:cNvSpPr/>
          <p:nvPr/>
        </p:nvSpPr>
        <p:spPr>
          <a:xfrm>
            <a:off x="3328416" y="389534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4443984" y="3895344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40" name="Text 138"/>
          <p:cNvSpPr/>
          <p:nvPr/>
        </p:nvSpPr>
        <p:spPr>
          <a:xfrm>
            <a:off x="4535424" y="389534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5650992" y="3895344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42" name="Text 140"/>
          <p:cNvSpPr/>
          <p:nvPr/>
        </p:nvSpPr>
        <p:spPr>
          <a:xfrm>
            <a:off x="5742432" y="389534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6858000" y="3895344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44" name="Text 142"/>
          <p:cNvSpPr/>
          <p:nvPr/>
        </p:nvSpPr>
        <p:spPr>
          <a:xfrm>
            <a:off x="6949440" y="389534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8065008" y="3895344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46" name="Text 144"/>
          <p:cNvSpPr/>
          <p:nvPr/>
        </p:nvSpPr>
        <p:spPr>
          <a:xfrm>
            <a:off x="8156448" y="3895344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3236976" y="3895344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148" name="Text 146"/>
          <p:cNvSpPr/>
          <p:nvPr/>
        </p:nvSpPr>
        <p:spPr>
          <a:xfrm>
            <a:off x="3236976" y="389534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5650992" y="3895344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150" name="Text 148"/>
          <p:cNvSpPr/>
          <p:nvPr/>
        </p:nvSpPr>
        <p:spPr>
          <a:xfrm>
            <a:off x="5650992" y="389534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065008" y="3895344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52" name="Text 150"/>
          <p:cNvSpPr/>
          <p:nvPr/>
        </p:nvSpPr>
        <p:spPr>
          <a:xfrm>
            <a:off x="8065008" y="3895344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384048" y="4242816"/>
            <a:ext cx="16459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54" name="Text 152"/>
          <p:cNvSpPr/>
          <p:nvPr/>
        </p:nvSpPr>
        <p:spPr>
          <a:xfrm>
            <a:off x="475488" y="42428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Supply chain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2029968" y="4242816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56" name="Text 154"/>
          <p:cNvSpPr/>
          <p:nvPr/>
        </p:nvSpPr>
        <p:spPr>
          <a:xfrm>
            <a:off x="2121408" y="424281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3236976" y="4242816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58" name="Text 156"/>
          <p:cNvSpPr/>
          <p:nvPr/>
        </p:nvSpPr>
        <p:spPr>
          <a:xfrm>
            <a:off x="3328416" y="424281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4443984" y="4242816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60" name="Text 158"/>
          <p:cNvSpPr/>
          <p:nvPr/>
        </p:nvSpPr>
        <p:spPr>
          <a:xfrm>
            <a:off x="4535424" y="424281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5650992" y="4242816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62" name="Text 160"/>
          <p:cNvSpPr/>
          <p:nvPr/>
        </p:nvSpPr>
        <p:spPr>
          <a:xfrm>
            <a:off x="5742432" y="424281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6858000" y="4242816"/>
            <a:ext cx="1207008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64" name="Text 162"/>
          <p:cNvSpPr/>
          <p:nvPr/>
        </p:nvSpPr>
        <p:spPr>
          <a:xfrm>
            <a:off x="6949440" y="424281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8065008" y="4242816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66" name="Text 164"/>
          <p:cNvSpPr/>
          <p:nvPr/>
        </p:nvSpPr>
        <p:spPr>
          <a:xfrm>
            <a:off x="8156448" y="4242816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8065008" y="4242816"/>
            <a:ext cx="713232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68" name="Text 166"/>
          <p:cNvSpPr/>
          <p:nvPr/>
        </p:nvSpPr>
        <p:spPr>
          <a:xfrm>
            <a:off x="8065008" y="4242816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384048" y="4590288"/>
            <a:ext cx="16459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0" name="Text 168"/>
          <p:cNvSpPr/>
          <p:nvPr/>
        </p:nvSpPr>
        <p:spPr>
          <a:xfrm>
            <a:off x="475488" y="45902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2029968" y="4590288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2" name="Text 170"/>
          <p:cNvSpPr/>
          <p:nvPr/>
        </p:nvSpPr>
        <p:spPr>
          <a:xfrm>
            <a:off x="2121408" y="459028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3236976" y="4590288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4" name="Text 172"/>
          <p:cNvSpPr/>
          <p:nvPr/>
        </p:nvSpPr>
        <p:spPr>
          <a:xfrm>
            <a:off x="3328416" y="459028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4443984" y="4590288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6" name="Text 174"/>
          <p:cNvSpPr/>
          <p:nvPr/>
        </p:nvSpPr>
        <p:spPr>
          <a:xfrm>
            <a:off x="4535424" y="459028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5650992" y="4590288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8" name="Text 176"/>
          <p:cNvSpPr/>
          <p:nvPr/>
        </p:nvSpPr>
        <p:spPr>
          <a:xfrm>
            <a:off x="5742432" y="459028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6858000" y="4590288"/>
            <a:ext cx="1207008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0" name="Text 178"/>
          <p:cNvSpPr/>
          <p:nvPr/>
        </p:nvSpPr>
        <p:spPr>
          <a:xfrm>
            <a:off x="6949440" y="4590288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8065008" y="4590288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2" name="Text 180"/>
          <p:cNvSpPr/>
          <p:nvPr/>
        </p:nvSpPr>
        <p:spPr>
          <a:xfrm>
            <a:off x="8156448" y="4590288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5650992" y="4590288"/>
            <a:ext cx="1207008" cy="329184"/>
          </a:xfrm>
          <a:prstGeom prst="rect">
            <a:avLst/>
          </a:prstGeom>
          <a:solidFill>
            <a:srgbClr val="002010"/>
          </a:solidFill>
          <a:ln/>
        </p:spPr>
      </p:sp>
      <p:sp>
        <p:nvSpPr>
          <p:cNvPr id="184" name="Text 182"/>
          <p:cNvSpPr/>
          <p:nvPr/>
        </p:nvSpPr>
        <p:spPr>
          <a:xfrm>
            <a:off x="5650992" y="459028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8065008" y="4590288"/>
            <a:ext cx="713232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86" name="Text 184"/>
          <p:cNvSpPr/>
          <p:nvPr/>
        </p:nvSpPr>
        <p:spPr>
          <a:xfrm>
            <a:off x="8065008" y="4590288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384048" y="4992624"/>
            <a:ext cx="8375904" cy="0"/>
          </a:xfrm>
          <a:prstGeom prst="rect">
            <a:avLst>
              <a:gd name="adj" fmla="val Infinity"/>
            </a:avLst>
          </a:prstGeom>
          <a:solidFill>
            <a:srgbClr val="112035"/>
          </a:solidFill>
          <a:ln/>
          <a:effectLst>
            <a:outerShdw sx="100000" sy="100000" kx="0" ky="0" algn="bl" rotWithShape="0" blurRad="6.291686372737332e+238" dist="3.145843186368666e+238" dir="1.8327629242758474e+279">
              <a:srgbClr val="000000">
                <a:alpha val="2.5e+289"/>
              </a:srgbClr>
            </a:outerShdw>
          </a:effectLst>
        </p:spPr>
      </p:sp>
      <p:sp>
        <p:nvSpPr>
          <p:cNvPr id="188" name="Shape 186"/>
          <p:cNvSpPr/>
          <p:nvPr/>
        </p:nvSpPr>
        <p:spPr>
          <a:xfrm>
            <a:off x="384048" y="4992624"/>
            <a:ext cx="73152" cy="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9" name="Text 187"/>
          <p:cNvSpPr/>
          <p:nvPr/>
        </p:nvSpPr>
        <p:spPr>
          <a:xfrm>
            <a:off x="566928" y="5065776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90" name="Text 188"/>
          <p:cNvSpPr/>
          <p:nvPr/>
        </p:nvSpPr>
        <p:spPr>
          <a:xfrm>
            <a:off x="566928" y="5394960"/>
            <a:ext cx="8083296" cy="-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1" name="Text 189"/>
          <p:cNvSpPr/>
          <p:nvPr/>
        </p:nvSpPr>
        <p:spPr>
          <a:xfrm>
            <a:off x="384048" y="4864608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= Primary recommendation  |  ★★★★ = Strong supporting  |  ★★★ = Useful supplement  |  ★★ = Limited  |  — = Not applicable</a:t>
            </a:r>
            <a:endParaRPr lang="en-US" sz="900" dirty="0"/>
          </a:p>
        </p:txBody>
      </p:sp>
      <p:sp>
        <p:nvSpPr>
          <p:cNvPr id="192" name="Text 190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methodology selection in CSMS-RA-001 with reference to this matrix. The rationale for each selection must be recorded per §4.2.3.1 (SHALL).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· INDUSTRY COMBINATIONS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Hybrid Combinations by Industry Sector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114800" cy="1463040"/>
          </a:xfrm>
          <a:prstGeom prst="rect">
            <a:avLst>
              <a:gd name="adj" fmla="val 50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7.990441693376412e+242" dist="3.995220846688206e+242" dir="1.0996577545655084e+284">
              <a:srgbClr val="000000">
                <a:alpha val="2.5000000000000002e+29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89888"/>
            <a:ext cx="41148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51790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Port Terminal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79222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RTG, IGV/AGV, ASC, TOS — DP World 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20482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89888" y="204825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Risk Matrix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" y="22494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89888" y="224942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(TOS + IGV navigation + V2X communications)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24505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89888" y="245059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(RTG/ASC machinery control)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" y="26517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COMMS: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89888" y="265176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(IGV collision and TOS manipulation scenarios)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0016" y="1389888"/>
            <a:ext cx="4114800" cy="1463040"/>
          </a:xfrm>
          <a:prstGeom prst="rect">
            <a:avLst>
              <a:gd name="adj" fmla="val 50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0147860950588043e+247" dist="5.0739304752940216e+246" dir="6.59794652739305e+288">
              <a:srgbClr val="000000">
                <a:alpha val="2.5e+29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389888"/>
            <a:ext cx="411480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151790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Refinery / Chemical Plant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9744" y="179222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DCS, SIS/ESD, SCADA, PLC — process industries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9744" y="20482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05856" y="204825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Risk Matrix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9744" y="22494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05856" y="224942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+ LOPA (SIS and safety control loops)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9744" y="24505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05856" y="245059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LOPA (validate protection layer adequacy)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9744" y="26517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05856" y="265176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(loss-of-containment and ESD defeat scenarios)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2999232"/>
            <a:ext cx="4114800" cy="1463040"/>
          </a:xfrm>
          <a:prstGeom prst="rect">
            <a:avLst>
              <a:gd name="adj" fmla="val 50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2887783407246816e+251" dist="6.443891703623408e+250" dir="3.95876791643583e+293">
              <a:srgbClr val="000000">
                <a:alpha val="2.5000000000000003e+30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2999232"/>
            <a:ext cx="411480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" y="312724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&amp; Wastewater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" y="340156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SCADA, PLC dosing systems, pumping stations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" y="365760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389888" y="365760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Risk Matrix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" y="385876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389888" y="385876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(chemical dosing control systems)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3776" y="4059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89888" y="405993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" y="426110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389888" y="426110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(public health contamination scenario)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0016" y="2999232"/>
            <a:ext cx="4114800" cy="1463040"/>
          </a:xfrm>
          <a:prstGeom prst="rect">
            <a:avLst>
              <a:gd name="adj" fmla="val 50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6367484927203455e+255" dist="8.183742463601727e+254" dir="2.375260749861498e+298">
              <a:srgbClr val="000000">
                <a:alpha val="Infinity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0016" y="2999232"/>
            <a:ext cx="411480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4" name="Text 42"/>
          <p:cNvSpPr/>
          <p:nvPr/>
        </p:nvSpPr>
        <p:spPr>
          <a:xfrm>
            <a:off x="4809744" y="312724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Generation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09744" y="340156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EMS, SCADA, turbine control, protection relays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9744" y="365760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05856" y="365760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Risk Matrix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9744" y="385876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05856" y="385876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(EMS/SCADA + external grid connections)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09744" y="4059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05856" y="405993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(turbine and generator control systems)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09744" y="426110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A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COMMS: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05856" y="426110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(grid stability and blackout scenarios)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rationale text from your chosen combination directly into CSMS-RA-001 Section 4 (Selected Methodology) — adapting for your specific site and systems.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5350">
                    <a:alpha val="2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281635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end-to-end assessments. Watch the methodology selection, risk scoring, and countermeasure derivation from start to finish.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EF53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· EXAMPLE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LAN-Connected Triconex SIS — Sunrise Refinery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Unit 3 SIS reachable from corporate ERP VLAN with no firewall between them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8375904" cy="512064"/>
          </a:xfrm>
          <a:prstGeom prst="rect">
            <a:avLst>
              <a:gd name="adj" fmla="val 14286"/>
            </a:avLst>
          </a:prstGeom>
          <a:solidFill>
            <a:srgbClr val="112035"/>
          </a:solidFill>
          <a:ln/>
          <a:effectLst>
            <a:outerShdw sx="100000" sy="100000" kx="0" ky="0" algn="bl" rotWithShape="0" blurRad="2.0786705857548387e+259" dist="1.0393352928774194e+259" dir="1.4251564499168988e+303">
              <a:srgbClr val="000000">
                <a:alpha val="Infinity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44752"/>
            <a:ext cx="73152" cy="5120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17904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The Discovery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8083296" cy="-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mapping (CSMS-RA-003) reveals that the Unit 3 Triconex SIS — which controls emergency shutdown for Unit 3 — has an Ethernet port on the same VLAN as the corporate ERP. No firewall. Anyone on corporate can reach the SIS.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212848"/>
            <a:ext cx="365760" cy="365760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2.639911643908645e+263" dist="1.3199558219543225e+263" dir="8.550938699501393e+307">
              <a:srgbClr val="000000">
                <a:alpha val="Infinity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2084832"/>
            <a:ext cx="7882128" cy="658368"/>
          </a:xfrm>
          <a:prstGeom prst="rect">
            <a:avLst>
              <a:gd name="adj" fmla="val 9722"/>
            </a:avLst>
          </a:prstGeom>
          <a:solidFill>
            <a:srgbClr val="162845"/>
          </a:solidFill>
          <a:ln/>
          <a:effectLst>
            <a:outerShdw sx="100000" sy="100000" kx="0" ky="0" algn="bl" rotWithShape="0" blurRad="3.352687787763979e+267" dist="1.6763438938819895e+267" dir="Infinity">
              <a:srgbClr val="000000">
                <a:alpha val="Infinity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2084832"/>
            <a:ext cx="64008" cy="65836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213969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Selection (CSMS-RA-001)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78992" y="2414016"/>
            <a:ext cx="7571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matrix: SIS = IEC 62443 primary + HAZOP supporting + Bow-Tie for executive communication.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SIS is safety-critical (IEC 61511 SIL 2). HAZOP required for physical consequence chain. IEC 62443 produces SL-T. Bow-Tie for board presentation.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962656"/>
            <a:ext cx="365760" cy="365760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4.257913490460253e+271" dist="2.1289567452301266e+271" dir="Infinity">
              <a:srgbClr val="000000">
                <a:alpha val="Infinity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2834640"/>
            <a:ext cx="7882128" cy="658368"/>
          </a:xfrm>
          <a:prstGeom prst="rect">
            <a:avLst>
              <a:gd name="adj" fmla="val 9722"/>
            </a:avLst>
          </a:prstGeom>
          <a:solidFill>
            <a:srgbClr val="162845"/>
          </a:solidFill>
          <a:ln/>
          <a:effectLst>
            <a:outerShdw sx="100000" sy="100000" kx="0" ky="0" algn="bl" rotWithShape="0" blurRad="5.4075501328845217e+275" dist="2.7037750664422608e+275" dir="Infinity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2834640"/>
            <a:ext cx="64008" cy="65836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2889504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 — Physical Consequence Identification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78992" y="3163824"/>
            <a:ext cx="7571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interlock signal when high pressure: Vessel overpressure → explosion/BLEVE → CATASTROPHIC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shutdown triggered: Uncontrolled Unit 3 cool-down → product solidification → days offline → CRITICAL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Cause-and-effect matrix altered: Wrong equipment responds → hidden hazard builds → CATASTROPHIC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712464"/>
            <a:ext cx="365760" cy="365760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6.867588668763342e+279" dist="3.433794334381671e+279" dir="Infinity">
              <a:srgbClr val="000000">
                <a:alpha val="Infinity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3712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" y="3584448"/>
            <a:ext cx="7882128" cy="658368"/>
          </a:xfrm>
          <a:prstGeom prst="rect">
            <a:avLst>
              <a:gd name="adj" fmla="val 9722"/>
            </a:avLst>
          </a:prstGeom>
          <a:solidFill>
            <a:srgbClr val="162845"/>
          </a:solidFill>
          <a:ln/>
          <a:effectLst>
            <a:outerShdw sx="100000" sy="100000" kx="0" ky="0" algn="bl" rotWithShape="0" blurRad="8.721837609329444e+283" dist="4.360918804664722e+283" dir="Infinity">
              <a:srgbClr val="000000">
                <a:alpha val="Infinity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3584448"/>
            <a:ext cx="64008" cy="65836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363931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 Scoring (CSMS-RA-007)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8992" y="3913632"/>
            <a:ext cx="7571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R-SIS-001: External attacker disables ESD via corporate LAN | L=4, C=4 | Score 16 | CRITICAL | SL-T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R-SIS-002: Insider triggers false ESD via SIS workstation | L=3, C=3 | Score 9 | HIGH | SL-T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R-SIS-003: Vendor remote access used to alter cause-and-effect | L=3, C=4 | Score 12 | CRITICAL | SL-T 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462272"/>
            <a:ext cx="365760" cy="365760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1.1076733763848394e+288" dist="5.538366881924197e+287" dir="Infinity">
              <a:srgbClr val="000000">
                <a:alpha val="Infinity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462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96112" y="4334256"/>
            <a:ext cx="7882128" cy="658368"/>
          </a:xfrm>
          <a:prstGeom prst="rect">
            <a:avLst>
              <a:gd name="adj" fmla="val 9722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4067451880087461e+292" dist="7.033725940043731e+291" dir="Infinity">
              <a:srgbClr val="000000">
                <a:alpha val="Infinity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6112" y="4334256"/>
            <a:ext cx="64008" cy="65836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" y="438912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Countermeasures (SL-T 3 Required)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78992" y="4663440"/>
            <a:ext cx="7571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(24hr): Physically disconnect SIS from corporate VLAN. Suspend all vendor accounts with SIS access.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DAYS: Deploy unidirectional gateway/data diode. Implement MFA on all SIS access. Vendor access: supervised only, time-limited, logged.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16 = Maximum on the 4×4 matrix. This is an immediate shutdown of the vulnerability before the detailed assessment completes. §4.2.3.13: document everything.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EF53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· EXAMPLE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IGV Navigation — Automated Port Terminal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World-type terminal · IGVs use GPS + V2X + fleet management API connected to 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IGVs navigate using GPS positioning and V2X beacons from fixed infrastructure. Fleet management server connects to TOS via REST API. Vendor has remote access to fleet management for maintenance.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are the CRITICAL cyber risks and what SL-T does the IGV zone require?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77977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Methodology Selection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3072384"/>
            <a:ext cx="4160520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" y="3072384"/>
            <a:ext cx="64008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307238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35024" y="307238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(IGV nav + V2X + fleet API)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493008"/>
            <a:ext cx="4160520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3493008"/>
            <a:ext cx="6400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49300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35024" y="349300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 (zone scoring)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913632"/>
            <a:ext cx="4160520" cy="347472"/>
          </a:xfrm>
          <a:prstGeom prst="rect">
            <a:avLst>
              <a:gd name="adj" fmla="val 15789"/>
            </a:avLst>
          </a:prstGeom>
          <a:solidFill>
            <a:srgbClr val="162845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3913632"/>
            <a:ext cx="64008" cy="347472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391363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35024" y="391363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(IGV collision scenario)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35254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STRIDE leads: IGV threats are adversarial and software-focused — V2X spoofing, positioning data manipulation, API privilege escalation. HAZOP would miss the entire V2X attack surface.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14447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STRIDE Output → IEC 62443 Scores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36592" y="1773936"/>
            <a:ext cx="4041648" cy="585216"/>
          </a:xfrm>
          <a:prstGeom prst="rect">
            <a:avLst>
              <a:gd name="adj" fmla="val 125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1.7865663887711077e+296" dist="8.932831943855538e+295" dir="Infinity">
              <a:srgbClr val="000000">
                <a:alpha val="Infinity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773936"/>
            <a:ext cx="64008" cy="58521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1828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R-IGV-001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1828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L4×C4=16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88352" y="1847088"/>
            <a:ext cx="1298448" cy="201168"/>
          </a:xfrm>
          <a:prstGeom prst="rect">
            <a:avLst>
              <a:gd name="adj" fmla="val 36364"/>
            </a:avLst>
          </a:prstGeom>
          <a:solidFill>
            <a:srgbClr val="EF5350"/>
          </a:solidFill>
          <a:ln/>
        </p:spPr>
      </p:sp>
      <p:sp>
        <p:nvSpPr>
          <p:cNvPr id="29" name="Text 27"/>
          <p:cNvSpPr/>
          <p:nvPr/>
        </p:nvSpPr>
        <p:spPr>
          <a:xfrm>
            <a:off x="7388352" y="1847088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21031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— Rogue V2X beacon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0" y="2084832"/>
            <a:ext cx="1188720" cy="228600"/>
          </a:xfrm>
          <a:prstGeom prst="rect">
            <a:avLst>
              <a:gd name="adj" fmla="val 48000"/>
            </a:avLst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20848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SL-T 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36592" y="2432304"/>
            <a:ext cx="4041648" cy="585216"/>
          </a:xfrm>
          <a:prstGeom prst="rect">
            <a:avLst>
              <a:gd name="adj" fmla="val 125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2689393137393066e+300" dist="1.1344696568696533e+300" dir="Infinity">
              <a:srgbClr val="000000">
                <a:alpha val="Infinity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2432304"/>
            <a:ext cx="64008" cy="58521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2487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R-IGV-002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2487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L2×C4=8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88352" y="2505456"/>
            <a:ext cx="1298448" cy="201168"/>
          </a:xfrm>
          <a:prstGeom prst="rect">
            <a:avLst>
              <a:gd name="adj" fmla="val 36364"/>
            </a:avLst>
          </a:prstGeom>
          <a:solidFill>
            <a:srgbClr val="FFB300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50545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276148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— MITM obstacle data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0" y="2743200"/>
            <a:ext cx="1188720" cy="228600"/>
          </a:xfrm>
          <a:prstGeom prst="rect">
            <a:avLst>
              <a:gd name="adj" fmla="val 48000"/>
            </a:avLst>
          </a:prstGeom>
          <a:solidFill>
            <a:srgbClr val="00BFA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2743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SL-T 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36592" y="3090672"/>
            <a:ext cx="4041648" cy="585216"/>
          </a:xfrm>
          <a:prstGeom prst="rect">
            <a:avLst>
              <a:gd name="adj" fmla="val 125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2.8815529284489193e+304" dist="1.4407764642244596e+304" dir="Infinity">
              <a:srgbClr val="000000">
                <a:alpha val="Infinity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36592" y="3090672"/>
            <a:ext cx="64008" cy="58521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31455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R-IGV-003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31455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L4×C3=12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88352" y="3163824"/>
            <a:ext cx="1298448" cy="201168"/>
          </a:xfrm>
          <a:prstGeom prst="rect">
            <a:avLst>
              <a:gd name="adj" fmla="val 36364"/>
            </a:avLst>
          </a:prstGeom>
          <a:solidFill>
            <a:srgbClr val="EF5350"/>
          </a:solidFill>
          <a:ln/>
        </p:spPr>
      </p:sp>
      <p:sp>
        <p:nvSpPr>
          <p:cNvPr id="47" name="Text 45"/>
          <p:cNvSpPr/>
          <p:nvPr/>
        </p:nvSpPr>
        <p:spPr>
          <a:xfrm>
            <a:off x="7388352" y="316382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64608" y="341985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— Wi-Fi deauth fleet halt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15200" y="3401568"/>
            <a:ext cx="1188720" cy="228600"/>
          </a:xfrm>
          <a:prstGeom prst="rect">
            <a:avLst>
              <a:gd name="adj" fmla="val 48000"/>
            </a:avLst>
          </a:prstGeom>
          <a:solidFill>
            <a:srgbClr val="00BFA5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0" y="34015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SL-T 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36592" y="3749040"/>
            <a:ext cx="4041648" cy="585216"/>
          </a:xfrm>
          <a:prstGeom prst="rect">
            <a:avLst>
              <a:gd name="adj" fmla="val 12500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36592" y="3749040"/>
            <a:ext cx="64008" cy="58521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3" name="Text 51"/>
          <p:cNvSpPr/>
          <p:nvPr/>
        </p:nvSpPr>
        <p:spPr>
          <a:xfrm>
            <a:off x="4864608" y="3803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R-IGV-004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035040" y="38039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L3×C4=12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88352" y="3822192"/>
            <a:ext cx="1298448" cy="201168"/>
          </a:xfrm>
          <a:prstGeom prst="rect">
            <a:avLst>
              <a:gd name="adj" fmla="val 36364"/>
            </a:avLst>
          </a:prstGeom>
          <a:solidFill>
            <a:srgbClr val="EF5350"/>
          </a:solidFill>
          <a:ln/>
        </p:spPr>
      </p:sp>
      <p:sp>
        <p:nvSpPr>
          <p:cNvPr id="56" name="Text 54"/>
          <p:cNvSpPr/>
          <p:nvPr/>
        </p:nvSpPr>
        <p:spPr>
          <a:xfrm>
            <a:off x="7388352" y="382219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64608" y="407822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— Vendor API escalation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315200" y="4059936"/>
            <a:ext cx="1188720" cy="228600"/>
          </a:xfrm>
          <a:prstGeom prst="rect">
            <a:avLst>
              <a:gd name="adj" fmla="val 48000"/>
            </a:avLst>
          </a:prstGeom>
          <a:solidFill>
            <a:srgbClr val="00BFA5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0" y="40599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SL-T 3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36592" y="4425696"/>
            <a:ext cx="4041648" cy="493776"/>
          </a:xfrm>
          <a:prstGeom prst="rect">
            <a:avLst>
              <a:gd name="adj" fmla="val 14815"/>
            </a:avLst>
          </a:prstGeom>
          <a:solidFill>
            <a:srgbClr val="11203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36592" y="4425696"/>
            <a:ext cx="73152" cy="49377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62" name="Text 60"/>
          <p:cNvSpPr/>
          <p:nvPr/>
        </p:nvSpPr>
        <p:spPr>
          <a:xfrm>
            <a:off x="4919472" y="4498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919472" y="4828032"/>
            <a:ext cx="3749040" cy="-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risks → SL-T 3 for the entire IGV zone. Most port operators currently implement SL-T 1. This gap requires urgent countermeasure programme.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produces the findings. IEC 62443 matrix scores them. Bow-Tie communicates the 'IGV collision due to V2X spoofing' scenario to the board with barrier gaps clearly visible.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4CAF82">
                    <a:alpha val="2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&amp; Mastery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281635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principles of OT risk assessment. The complete CSMS-RA-001 checklist. The mindset shift from IT risk professional to OT assessment practitioner.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4CAF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 · MASTERY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 Principles of OT Risk Assessment Mastery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42646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07008" y="1225296"/>
            <a:ext cx="402336" cy="402336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07008" y="1225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68249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physical consequence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212140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is the worst physical thing that can happen here? Work backwards to cyber causes. Not vulnerability → impact.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42646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25296"/>
            <a:ext cx="402336" cy="402336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225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68249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use a single methodology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0048" y="212140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 is your spine. Add HAZOP for physical consequence. Add STRIDE for software attack paths. Always hybrid.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142646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59552" y="1225296"/>
            <a:ext cx="402336" cy="402336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59552" y="1225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8249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SL-T is mandatory — everything else supplements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12140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CSMS requires SL-T to drive countermeasures. HAZOP and STRIDE feed into IEC 62443 matrix — which produces SL-T.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12864" y="142646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35824" y="1225296"/>
            <a:ext cx="402336" cy="402336"/>
          </a:xfrm>
          <a:prstGeom prst="ellipse">
            <a:avLst/>
          </a:prstGeom>
          <a:solidFill>
            <a:srgbClr val="EF5350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35824" y="1225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22592" y="168249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controls must not create safety hazards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22592" y="212140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must be checked for HSE impact. §4.2.3.11 (SHALL) — integration is mandatory, not optional.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07238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07008" y="2871216"/>
            <a:ext cx="402336" cy="402336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07008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" y="332841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 the Annex B sequence — always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" y="376732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first. Business rationale before technical work. Detailed findings without risk narrative = ignored reports.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307238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2871216"/>
            <a:ext cx="402336" cy="402336"/>
          </a:xfrm>
          <a:prstGeom prst="ellipse">
            <a:avLst/>
          </a:prstGeom>
          <a:solidFill>
            <a:srgbClr val="4CAF82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83280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70048" y="332841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the methodology selection (CSMS-RA-001)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70048" y="376732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 (SHALL). Show alternatives evaluated and the specific reasons for selection. This is the first document an auditor requests.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36592" y="3072384"/>
            <a:ext cx="2057400" cy="1517904"/>
          </a:xfrm>
          <a:prstGeom prst="rect">
            <a:avLst>
              <a:gd name="adj" fmla="val 6024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59552" y="2871216"/>
            <a:ext cx="402336" cy="402336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59552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332841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risk register is a living document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6320" y="3767328"/>
            <a:ext cx="1847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§4.2.3.10 (SHALL): Reassessment triggers must be documented. Every system change triggers a risk register review.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47888" y="3072384"/>
            <a:ext cx="493776" cy="1517904"/>
          </a:xfrm>
          <a:prstGeom prst="rect">
            <a:avLst>
              <a:gd name="adj" fmla="val 18519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is not knowing the methodology names. It is knowing when to use them, how to combine them, and how to justify the combination to an auditor or regulator.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4CAF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 · CSMS-RA-001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CSMS-RA-001 Methodology Selection — The Audit Checklist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 your methodology selection record, every item below must be confirmable. These are the questions an IEC 62443 auditor will ask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572768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737360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7190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6276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methodology is named and documented in CSMS-RA-001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193852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 SHALL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0016" y="1572768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572768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5" name="Shape 13"/>
          <p:cNvSpPr/>
          <p:nvPr/>
        </p:nvSpPr>
        <p:spPr>
          <a:xfrm>
            <a:off x="4901184" y="1737360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7190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48656" y="16276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methodologies were evaluated before selection (alternatives documented)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48656" y="193852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 SHALL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2194560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194560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" y="2359152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234086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22494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rationale for selection explains why this method fits THIS environment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256032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 SHALL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0016" y="2194560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0016" y="2194560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7" name="Shape 25"/>
          <p:cNvSpPr/>
          <p:nvPr/>
        </p:nvSpPr>
        <p:spPr>
          <a:xfrm>
            <a:off x="4901184" y="2359152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28" name="Text 26"/>
          <p:cNvSpPr/>
          <p:nvPr/>
        </p:nvSpPr>
        <p:spPr>
          <a:xfrm>
            <a:off x="4901184" y="234086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48656" y="22494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produces SL-T — or explicitly shows how SL-T is derived from its outputs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48656" y="256032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requirement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2816352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2816352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3" name="Shape 31"/>
          <p:cNvSpPr/>
          <p:nvPr/>
        </p:nvSpPr>
        <p:spPr>
          <a:xfrm>
            <a:off x="585216" y="2980944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" y="296265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" y="28712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 analysis is included for any safety-critical system in scope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" y="3182112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§4.2.3.11 SHALL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0016" y="2816352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0016" y="2816352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9" name="Shape 37"/>
          <p:cNvSpPr/>
          <p:nvPr/>
        </p:nvSpPr>
        <p:spPr>
          <a:xfrm>
            <a:off x="4901184" y="2980944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40" name="Text 38"/>
          <p:cNvSpPr/>
          <p:nvPr/>
        </p:nvSpPr>
        <p:spPr>
          <a:xfrm>
            <a:off x="4901184" y="296265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48656" y="28712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analysis is included for software-intensive or externally-connected systems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48656" y="3182112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84048" y="3438144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4048" y="3438144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45" name="Shape 43"/>
          <p:cNvSpPr/>
          <p:nvPr/>
        </p:nvSpPr>
        <p:spPr>
          <a:xfrm>
            <a:off x="585216" y="3602736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358444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2688" y="349300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has been endorsed by both OT Security Lead AND HSE representative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2688" y="38039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0016" y="3438144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0016" y="3438144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51" name="Shape 49"/>
          <p:cNvSpPr/>
          <p:nvPr/>
        </p:nvSpPr>
        <p:spPr>
          <a:xfrm>
            <a:off x="4901184" y="3602736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52" name="Text 50"/>
          <p:cNvSpPr/>
          <p:nvPr/>
        </p:nvSpPr>
        <p:spPr>
          <a:xfrm>
            <a:off x="4901184" y="358444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48656" y="349300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exist for all assessment participants on the selected methodology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48656" y="38039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§4.2.3.2 SHOULD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84048" y="4059936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" y="4059936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57" name="Shape 55"/>
          <p:cNvSpPr/>
          <p:nvPr/>
        </p:nvSpPr>
        <p:spPr>
          <a:xfrm>
            <a:off x="585216" y="4224528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58" name="Text 56"/>
          <p:cNvSpPr/>
          <p:nvPr/>
        </p:nvSpPr>
        <p:spPr>
          <a:xfrm>
            <a:off x="585216" y="420624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32688" y="41148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 triggers are documented in CSMS-RA-009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2688" y="442569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§4.2.3.10 SHALL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0016" y="4059936"/>
            <a:ext cx="4114800" cy="548640"/>
          </a:xfrm>
          <a:prstGeom prst="rect">
            <a:avLst>
              <a:gd name="adj" fmla="val 11667"/>
            </a:avLst>
          </a:prstGeom>
          <a:solidFill>
            <a:srgbClr val="16284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0016" y="4059936"/>
            <a:ext cx="73152" cy="5486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63" name="Shape 61"/>
          <p:cNvSpPr/>
          <p:nvPr/>
        </p:nvSpPr>
        <p:spPr>
          <a:xfrm>
            <a:off x="4901184" y="4224528"/>
            <a:ext cx="237744" cy="237744"/>
          </a:xfrm>
          <a:prstGeom prst="rect">
            <a:avLst>
              <a:gd name="adj" fmla="val 15385"/>
            </a:avLst>
          </a:prstGeom>
          <a:solidFill>
            <a:srgbClr val="112035"/>
          </a:solidFill>
          <a:ln/>
        </p:spPr>
      </p:sp>
      <p:sp>
        <p:nvSpPr>
          <p:cNvPr id="64" name="Text 62"/>
          <p:cNvSpPr/>
          <p:nvPr/>
        </p:nvSpPr>
        <p:spPr>
          <a:xfrm>
            <a:off x="4901184" y="420624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248656" y="41148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review schedule is established (maximum 3 years)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48656" y="442569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84048" y="4681728"/>
            <a:ext cx="8375904" cy="347472"/>
          </a:xfrm>
          <a:prstGeom prst="rect">
            <a:avLst>
              <a:gd name="adj" fmla="val 21053"/>
            </a:avLst>
          </a:prstGeom>
          <a:solidFill>
            <a:srgbClr val="11203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84048" y="4681728"/>
            <a:ext cx="73152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9" name="Text 67"/>
          <p:cNvSpPr/>
          <p:nvPr/>
        </p:nvSpPr>
        <p:spPr>
          <a:xfrm>
            <a:off x="566928" y="4754880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66928" y="5084064"/>
            <a:ext cx="808329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undocumented methodology selection is a SHALL non-conformance against §4.2.3.1. It is the first document an auditor or regulator will request.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CSMS-RA-001_Methodology_Selection.docx — available in the OpenCSMS GitHub repository.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194560" cy="256032"/>
          </a:xfrm>
          <a:prstGeom prst="rect">
            <a:avLst>
              <a:gd name="adj" fmla="val 42857"/>
            </a:avLst>
          </a:prstGeom>
          <a:solidFill>
            <a:srgbClr val="4CAF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 · QUICK 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Reference: Methodology Selection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210312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44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Assessing...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444752"/>
            <a:ext cx="210312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" name="Text 7"/>
          <p:cNvSpPr/>
          <p:nvPr/>
        </p:nvSpPr>
        <p:spPr>
          <a:xfrm>
            <a:off x="2578608" y="1444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with...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90288" y="1444752"/>
            <a:ext cx="210312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444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93408" y="1444752"/>
            <a:ext cx="210312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3" name="Text 11"/>
          <p:cNvSpPr/>
          <p:nvPr/>
        </p:nvSpPr>
        <p:spPr>
          <a:xfrm>
            <a:off x="6784848" y="1444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with...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773936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73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(SIS/ESD)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7168" y="1773936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7" name="Text 15"/>
          <p:cNvSpPr/>
          <p:nvPr/>
        </p:nvSpPr>
        <p:spPr>
          <a:xfrm>
            <a:off x="2578608" y="1773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0288" y="1773936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1773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+ LOPA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93408" y="1773936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1773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87168" y="1773936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1773936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2121408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/ PLC (process)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2121408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7" name="Text 25"/>
          <p:cNvSpPr/>
          <p:nvPr/>
        </p:nvSpPr>
        <p:spPr>
          <a:xfrm>
            <a:off x="2578608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90288" y="2121408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9" name="Text 27"/>
          <p:cNvSpPr/>
          <p:nvPr/>
        </p:nvSpPr>
        <p:spPr>
          <a:xfrm>
            <a:off x="4681728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93408" y="2121408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for key scenarios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87168" y="2121408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2121408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" y="2468880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2468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Historian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87168" y="2468880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7" name="Text 35"/>
          <p:cNvSpPr/>
          <p:nvPr/>
        </p:nvSpPr>
        <p:spPr>
          <a:xfrm>
            <a:off x="2578608" y="2468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90288" y="2468880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39" name="Text 37"/>
          <p:cNvSpPr/>
          <p:nvPr/>
        </p:nvSpPr>
        <p:spPr>
          <a:xfrm>
            <a:off x="4681728" y="2468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3408" y="2468880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1" name="Text 39"/>
          <p:cNvSpPr/>
          <p:nvPr/>
        </p:nvSpPr>
        <p:spPr>
          <a:xfrm>
            <a:off x="6784848" y="2468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87168" y="2468880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43" name="Text 41"/>
          <p:cNvSpPr/>
          <p:nvPr/>
        </p:nvSpPr>
        <p:spPr>
          <a:xfrm>
            <a:off x="2560320" y="2468880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" y="2816352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" y="28163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network / zones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87168" y="2816352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7" name="Text 45"/>
          <p:cNvSpPr/>
          <p:nvPr/>
        </p:nvSpPr>
        <p:spPr>
          <a:xfrm>
            <a:off x="2578608" y="28163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90288" y="2816352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9" name="Text 47"/>
          <p:cNvSpPr/>
          <p:nvPr/>
        </p:nvSpPr>
        <p:spPr>
          <a:xfrm>
            <a:off x="4681728" y="28163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93408" y="2816352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1" name="Text 49"/>
          <p:cNvSpPr/>
          <p:nvPr/>
        </p:nvSpPr>
        <p:spPr>
          <a:xfrm>
            <a:off x="6784848" y="28163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87168" y="2816352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3" name="Text 51"/>
          <p:cNvSpPr/>
          <p:nvPr/>
        </p:nvSpPr>
        <p:spPr>
          <a:xfrm>
            <a:off x="2560320" y="28163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84048" y="3163824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" y="31638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/ IGV / autonomous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487168" y="3163824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7" name="Text 55"/>
          <p:cNvSpPr/>
          <p:nvPr/>
        </p:nvSpPr>
        <p:spPr>
          <a:xfrm>
            <a:off x="2578608" y="31638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90288" y="3163824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59" name="Text 57"/>
          <p:cNvSpPr/>
          <p:nvPr/>
        </p:nvSpPr>
        <p:spPr>
          <a:xfrm>
            <a:off x="4681728" y="31638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693408" y="3163824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1" name="Text 59"/>
          <p:cNvSpPr/>
          <p:nvPr/>
        </p:nvSpPr>
        <p:spPr>
          <a:xfrm>
            <a:off x="6784848" y="31638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 (collision)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87168" y="3163824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3" name="Text 61"/>
          <p:cNvSpPr/>
          <p:nvPr/>
        </p:nvSpPr>
        <p:spPr>
          <a:xfrm>
            <a:off x="2560320" y="3163824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84048" y="3511296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5" name="Text 63"/>
          <p:cNvSpPr/>
          <p:nvPr/>
        </p:nvSpPr>
        <p:spPr>
          <a:xfrm>
            <a:off x="475488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/ software-intensive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487168" y="3511296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7" name="Text 65"/>
          <p:cNvSpPr/>
          <p:nvPr/>
        </p:nvSpPr>
        <p:spPr>
          <a:xfrm>
            <a:off x="2578608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90288" y="3511296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69" name="Text 67"/>
          <p:cNvSpPr/>
          <p:nvPr/>
        </p:nvSpPr>
        <p:spPr>
          <a:xfrm>
            <a:off x="4681728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93408" y="3511296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71" name="Text 69"/>
          <p:cNvSpPr/>
          <p:nvPr/>
        </p:nvSpPr>
        <p:spPr>
          <a:xfrm>
            <a:off x="6784848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487168" y="3511296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3" name="Text 71"/>
          <p:cNvSpPr/>
          <p:nvPr/>
        </p:nvSpPr>
        <p:spPr>
          <a:xfrm>
            <a:off x="2560320" y="3511296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84048" y="3858768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5" name="Text 73"/>
          <p:cNvSpPr/>
          <p:nvPr/>
        </p:nvSpPr>
        <p:spPr>
          <a:xfrm>
            <a:off x="475488" y="38587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HSE consequence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487168" y="3858768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7" name="Text 75"/>
          <p:cNvSpPr/>
          <p:nvPr/>
        </p:nvSpPr>
        <p:spPr>
          <a:xfrm>
            <a:off x="2578608" y="38587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90288" y="3858768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79" name="Text 77"/>
          <p:cNvSpPr/>
          <p:nvPr/>
        </p:nvSpPr>
        <p:spPr>
          <a:xfrm>
            <a:off x="4681728" y="38587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693408" y="3858768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81" name="Text 79"/>
          <p:cNvSpPr/>
          <p:nvPr/>
        </p:nvSpPr>
        <p:spPr>
          <a:xfrm>
            <a:off x="6784848" y="38587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487168" y="3858768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83" name="Text 81"/>
          <p:cNvSpPr/>
          <p:nvPr/>
        </p:nvSpPr>
        <p:spPr>
          <a:xfrm>
            <a:off x="2560320" y="3858768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84048" y="4206240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5" name="Text 83"/>
          <p:cNvSpPr/>
          <p:nvPr/>
        </p:nvSpPr>
        <p:spPr>
          <a:xfrm>
            <a:off x="475488" y="4206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supply chain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487168" y="4206240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7" name="Text 85"/>
          <p:cNvSpPr/>
          <p:nvPr/>
        </p:nvSpPr>
        <p:spPr>
          <a:xfrm>
            <a:off x="2578608" y="4206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590288" y="4206240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89" name="Text 87"/>
          <p:cNvSpPr/>
          <p:nvPr/>
        </p:nvSpPr>
        <p:spPr>
          <a:xfrm>
            <a:off x="4681728" y="4206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Matrix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693408" y="4206240"/>
            <a:ext cx="2103120" cy="329184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91" name="Text 89"/>
          <p:cNvSpPr/>
          <p:nvPr/>
        </p:nvSpPr>
        <p:spPr>
          <a:xfrm>
            <a:off x="6784848" y="4206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487168" y="4206240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3" name="Text 91"/>
          <p:cNvSpPr/>
          <p:nvPr/>
        </p:nvSpPr>
        <p:spPr>
          <a:xfrm>
            <a:off x="2560320" y="4206240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84048" y="4553712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5" name="Text 93"/>
          <p:cNvSpPr/>
          <p:nvPr/>
        </p:nvSpPr>
        <p:spPr>
          <a:xfrm>
            <a:off x="475488" y="4553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487168" y="4553712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7" name="Text 95"/>
          <p:cNvSpPr/>
          <p:nvPr/>
        </p:nvSpPr>
        <p:spPr>
          <a:xfrm>
            <a:off x="2578608" y="4553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Bow-Tie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590288" y="4553712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99" name="Text 97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(scores)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693408" y="4553712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1" name="Text 99"/>
          <p:cNvSpPr/>
          <p:nvPr/>
        </p:nvSpPr>
        <p:spPr>
          <a:xfrm>
            <a:off x="6784848" y="4553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2487168" y="4553712"/>
            <a:ext cx="2103120" cy="329184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103" name="Text 101"/>
          <p:cNvSpPr/>
          <p:nvPr/>
        </p:nvSpPr>
        <p:spPr>
          <a:xfrm>
            <a:off x="2560320" y="455371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Bow-Tie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384048" y="4681728"/>
            <a:ext cx="8375904" cy="347472"/>
          </a:xfrm>
          <a:prstGeom prst="rect">
            <a:avLst>
              <a:gd name="adj" fmla="val 21053"/>
            </a:avLst>
          </a:prstGeom>
          <a:solidFill>
            <a:srgbClr val="112035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384048" y="4681728"/>
            <a:ext cx="73152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6" name="Text 104"/>
          <p:cNvSpPr/>
          <p:nvPr/>
        </p:nvSpPr>
        <p:spPr>
          <a:xfrm>
            <a:off x="566928" y="4754880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Rule</a:t>
            </a:r>
            <a:endParaRPr lang="en-US" sz="1150" dirty="0"/>
          </a:p>
        </p:txBody>
      </p:sp>
      <p:sp>
        <p:nvSpPr>
          <p:cNvPr id="107" name="Text 105"/>
          <p:cNvSpPr/>
          <p:nvPr/>
        </p:nvSpPr>
        <p:spPr>
          <a:xfrm>
            <a:off x="566928" y="5084064"/>
            <a:ext cx="808329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Risk Matrix appears in EVERY combination because it is the only method that produces SL-T. It is always the spine, even when STRIDE or HAZOP leads the threat/consequence identification.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62443-2-1:2010 — Risk Assessment Methodology Training · OpenCSMS Open Source CSMS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Mindset Shift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IT risk professional to OT assessment practitioner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411480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704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Risk Mindset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98848" y="1170432"/>
            <a:ext cx="4297680" cy="292608"/>
          </a:xfrm>
          <a:prstGeom prst="rect">
            <a:avLst/>
          </a:prstGeom>
          <a:solidFill>
            <a:srgbClr val="162845"/>
          </a:solidFill>
          <a:ln/>
        </p:spPr>
      </p:sp>
      <p:sp>
        <p:nvSpPr>
          <p:cNvPr id="8" name="Text 6"/>
          <p:cNvSpPr/>
          <p:nvPr/>
        </p:nvSpPr>
        <p:spPr>
          <a:xfrm>
            <a:off x="4590288" y="11704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Risk Mindset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4996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4996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996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vulnerabilities (scan, find CVEs)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8848" y="14996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73168" y="14996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14996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14996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physical consequence, work backwards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19568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19568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19568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data breach, regulatory fine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98848" y="19568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9568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73168" y="19568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19568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fatality, environmental release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24140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" y="24140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24140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controls from ISO 27001 Annex 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98848" y="24140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73168" y="24140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8" name="Shape 26"/>
          <p:cNvSpPr/>
          <p:nvPr/>
        </p:nvSpPr>
        <p:spPr>
          <a:xfrm>
            <a:off x="4773168" y="24140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4901184" y="24140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control against HSE impact first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28712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28712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" y="28712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secondary to confidentiality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98848" y="28712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73168" y="28712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35" name="Shape 33"/>
          <p:cNvSpPr/>
          <p:nvPr/>
        </p:nvSpPr>
        <p:spPr>
          <a:xfrm>
            <a:off x="4773168" y="28712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4901184" y="28712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primary — often before confidentiality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" y="33284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38" name="Shape 36"/>
          <p:cNvSpPr/>
          <p:nvPr/>
        </p:nvSpPr>
        <p:spPr>
          <a:xfrm>
            <a:off x="384048" y="33284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" y="33284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methodology (ISO 27005, FAIR, OCTAVE)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98848" y="33284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73168" y="33284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42" name="Shape 40"/>
          <p:cNvSpPr/>
          <p:nvPr/>
        </p:nvSpPr>
        <p:spPr>
          <a:xfrm>
            <a:off x="4773168" y="33284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3" name="Text 41"/>
          <p:cNvSpPr/>
          <p:nvPr/>
        </p:nvSpPr>
        <p:spPr>
          <a:xfrm>
            <a:off x="4901184" y="33284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always: IEC 62443 + HAZOP + STRIDE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" y="37856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45" name="Shape 43"/>
          <p:cNvSpPr/>
          <p:nvPr/>
        </p:nvSpPr>
        <p:spPr>
          <a:xfrm>
            <a:off x="384048" y="37856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" y="37856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immediately on schedule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98848" y="37856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73168" y="37856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49" name="Shape 47"/>
          <p:cNvSpPr/>
          <p:nvPr/>
        </p:nvSpPr>
        <p:spPr>
          <a:xfrm>
            <a:off x="4773168" y="37856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0" name="Text 48"/>
          <p:cNvSpPr/>
          <p:nvPr/>
        </p:nvSpPr>
        <p:spPr>
          <a:xfrm>
            <a:off x="4901184" y="37856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after vendor approval, change management, staging test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4048" y="4242816"/>
            <a:ext cx="4114800" cy="402336"/>
          </a:xfrm>
          <a:prstGeom prst="rect">
            <a:avLst/>
          </a:prstGeom>
          <a:solidFill>
            <a:srgbClr val="112035"/>
          </a:solidFill>
          <a:ln/>
        </p:spPr>
      </p:sp>
      <p:sp>
        <p:nvSpPr>
          <p:cNvPr id="52" name="Shape 50"/>
          <p:cNvSpPr/>
          <p:nvPr/>
        </p:nvSpPr>
        <p:spPr>
          <a:xfrm>
            <a:off x="384048" y="4242816"/>
            <a:ext cx="64008" cy="402336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" y="42428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reviewed annually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498848" y="424281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6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773168" y="4242816"/>
            <a:ext cx="4297680" cy="402336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56" name="Shape 54"/>
          <p:cNvSpPr/>
          <p:nvPr/>
        </p:nvSpPr>
        <p:spPr>
          <a:xfrm>
            <a:off x="4773168" y="4242816"/>
            <a:ext cx="64008" cy="40233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7" name="Text 55"/>
          <p:cNvSpPr/>
          <p:nvPr/>
        </p:nvSpPr>
        <p:spPr>
          <a:xfrm>
            <a:off x="4901184" y="42428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updated on every change, every trigger event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"Irrespective of the quality of a CSMS, if it is not used, it does not add any value to the organisation and does not help reduce risk."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62443-2-1:2010 §4.4.2 Rationale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 Risk Assessment Methodologies — IEC 62443-2-1:2010 Training</dc:title>
  <dc:subject>PptxGenJS Presentation</dc:subject>
  <dc:creator>PptxGenJS</dc:creator>
  <cp:lastModifiedBy>PptxGenJS</cp:lastModifiedBy>
  <cp:revision>1</cp:revision>
  <dcterms:created xsi:type="dcterms:W3CDTF">2026-05-08T00:56:05Z</dcterms:created>
  <dcterms:modified xsi:type="dcterms:W3CDTF">2026-05-08T00:56:05Z</dcterms:modified>
</cp:coreProperties>
</file>